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2" r:id="rId15"/>
    <p:sldId id="273" r:id="rId16"/>
    <p:sldId id="271"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111"/>
    <a:srgbClr val="E50914"/>
    <a:srgbClr val="F5F5F5"/>
    <a:srgbClr val="1414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8358FF-0B43-4960-B3CF-66AEFB9CE80A}" type="datetimeFigureOut">
              <a:rPr lang="en-IN" smtClean="0"/>
              <a:t>21-08-2026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C4F572-E63A-4CAF-845C-B2F2448D3EAD}" type="slidenum">
              <a:rPr lang="en-IN" smtClean="0"/>
              <a:t>‹#›</a:t>
            </a:fld>
            <a:endParaRPr lang="en-IN" dirty="0"/>
          </a:p>
        </p:txBody>
      </p:sp>
    </p:spTree>
    <p:extLst>
      <p:ext uri="{BB962C8B-B14F-4D97-AF65-F5344CB8AC3E}">
        <p14:creationId xmlns:p14="http://schemas.microsoft.com/office/powerpoint/2010/main" val="2637916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AC4F572-E63A-4CAF-845C-B2F2448D3EAD}" type="slidenum">
              <a:rPr lang="en-IN" smtClean="0"/>
              <a:t>12</a:t>
            </a:fld>
            <a:endParaRPr lang="en-IN" dirty="0"/>
          </a:p>
        </p:txBody>
      </p:sp>
    </p:spTree>
    <p:extLst>
      <p:ext uri="{BB962C8B-B14F-4D97-AF65-F5344CB8AC3E}">
        <p14:creationId xmlns:p14="http://schemas.microsoft.com/office/powerpoint/2010/main" val="2884983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207E-D3A0-74D2-C439-8C3EA2B3E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320E82-3014-21D3-5F00-F6036294AE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706FA4-D588-323F-B44B-DFB01F426F3C}"/>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5" name="Footer Placeholder 4">
            <a:extLst>
              <a:ext uri="{FF2B5EF4-FFF2-40B4-BE49-F238E27FC236}">
                <a16:creationId xmlns:a16="http://schemas.microsoft.com/office/drawing/2014/main" id="{DEAC80F4-D3E6-F174-6CED-AEDBBEC1B64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081323B-D568-2F90-5BEA-F57AED41B6B5}"/>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779389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CE94B-4235-AA7A-23EF-B3E4A58A30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574FC3-1F51-755D-D8BA-06337CE298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321F54-2101-A4A5-ED7E-9A937556CCC6}"/>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5" name="Footer Placeholder 4">
            <a:extLst>
              <a:ext uri="{FF2B5EF4-FFF2-40B4-BE49-F238E27FC236}">
                <a16:creationId xmlns:a16="http://schemas.microsoft.com/office/drawing/2014/main" id="{DAE4E2E5-2668-3223-2F98-FF9EB83B069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E6E182A-1630-CF93-DA32-6CE966CC8A86}"/>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4069093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B33F4-FE59-C42D-8017-05CDF9CD88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C0A7F1-7C28-2044-AB6C-5078E04A85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2EB68D-830E-D8F4-BB4A-62DF824255C6}"/>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5" name="Footer Placeholder 4">
            <a:extLst>
              <a:ext uri="{FF2B5EF4-FFF2-40B4-BE49-F238E27FC236}">
                <a16:creationId xmlns:a16="http://schemas.microsoft.com/office/drawing/2014/main" id="{5E5B6A02-4067-1734-F0A2-6DBE542AC0B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6AA5586-84E3-ADF3-35EA-9E7BE4E94954}"/>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422758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1E12-FD1D-FCC4-AC6F-E5229818D5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25378E-0894-EDFE-C818-BC06D79857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627E00-10B6-29CF-9EBE-80F6760EC1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C90F68-4CAC-F128-3E46-31CA8A323ED8}"/>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6" name="Footer Placeholder 5">
            <a:extLst>
              <a:ext uri="{FF2B5EF4-FFF2-40B4-BE49-F238E27FC236}">
                <a16:creationId xmlns:a16="http://schemas.microsoft.com/office/drawing/2014/main" id="{70ED0E62-3EEF-5C21-E1AD-2EBF6D06396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E29D88C-AF89-01FA-FE47-9A1E11820BB9}"/>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311336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3709-1AE3-493B-6FD9-4D2243DB32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A436DF-DC7F-BA41-D8BE-6FE9FF53A5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A92C5C-553A-A9BC-3A23-8DC1D84338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5672DC-0831-B953-F32C-3E9C1A1C91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E61166-336E-D7E5-62F8-CCC71293E0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1CA25D-1FC6-2EB3-90AB-8723C22B8C23}"/>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8" name="Footer Placeholder 7">
            <a:extLst>
              <a:ext uri="{FF2B5EF4-FFF2-40B4-BE49-F238E27FC236}">
                <a16:creationId xmlns:a16="http://schemas.microsoft.com/office/drawing/2014/main" id="{7E979EF9-1318-3B36-5585-6A73A450C2DE}"/>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BFB1BA4E-30C6-6B58-3CB7-0A9CE311A822}"/>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3070793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DD03-C318-22CF-817B-49DACF7E9B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E2A24B-C281-DDCA-DE9A-ECAF13BA8635}"/>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4" name="Footer Placeholder 3">
            <a:extLst>
              <a:ext uri="{FF2B5EF4-FFF2-40B4-BE49-F238E27FC236}">
                <a16:creationId xmlns:a16="http://schemas.microsoft.com/office/drawing/2014/main" id="{1076C8CA-6C64-A9B5-0395-309D281C657D}"/>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EAF30F6B-B5F6-D732-B660-7AF88E4884CF}"/>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2673876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3C515A-C102-0B20-E1DE-5F0321EB7399}"/>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3" name="Footer Placeholder 2">
            <a:extLst>
              <a:ext uri="{FF2B5EF4-FFF2-40B4-BE49-F238E27FC236}">
                <a16:creationId xmlns:a16="http://schemas.microsoft.com/office/drawing/2014/main" id="{E1076885-C42F-D571-B7A4-99DEFBA911C8}"/>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96B7EE12-B038-1F04-9563-1A4EB512E137}"/>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925919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AC00-D3D2-BE58-877E-06C9B27E5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6303BE-562B-D297-DC79-B1A4F4737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824657-A755-ACC2-79EE-C082C1D3A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823AF-79C8-0471-FAEB-36E0445981C7}"/>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6" name="Footer Placeholder 5">
            <a:extLst>
              <a:ext uri="{FF2B5EF4-FFF2-40B4-BE49-F238E27FC236}">
                <a16:creationId xmlns:a16="http://schemas.microsoft.com/office/drawing/2014/main" id="{70A38F38-49FE-855A-054D-EE1BE2066F4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EEB2865-5780-D911-CB6D-7EADE554E983}"/>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377572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FADF-7D24-DD28-37A5-70678C177C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6A7359-8DB5-023B-5CDC-0B3BCF8462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2965D86-4E26-372F-B619-E74B0ADABD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046BA1-719A-FC90-BABA-393EBE9AE22E}"/>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6" name="Footer Placeholder 5">
            <a:extLst>
              <a:ext uri="{FF2B5EF4-FFF2-40B4-BE49-F238E27FC236}">
                <a16:creationId xmlns:a16="http://schemas.microsoft.com/office/drawing/2014/main" id="{D817932E-9F10-F5D1-07A0-D82CD6CA0D3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5CE5807-A01B-A3CD-4648-BDDE5D41C6EA}"/>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25123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2C15A-31F9-F44D-98CF-F8E8DD7880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C57AEF-9EB5-A814-1DEA-372358493D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CEF496-E471-2973-F646-865CC35C7A4C}"/>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5" name="Footer Placeholder 4">
            <a:extLst>
              <a:ext uri="{FF2B5EF4-FFF2-40B4-BE49-F238E27FC236}">
                <a16:creationId xmlns:a16="http://schemas.microsoft.com/office/drawing/2014/main" id="{57E00A88-4B92-049F-C499-599E9C9B1B6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1C13AA-E44C-79A3-36A4-2DD8D570B8C5}"/>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3526960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0905F5-3107-9E07-F09D-8B8D7F8C47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431632-8EE1-59A6-6FA8-5A6121B5A6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BAC8D7-3A14-7CB0-EA06-37A9D2934BD4}"/>
              </a:ext>
            </a:extLst>
          </p:cNvPr>
          <p:cNvSpPr>
            <a:spLocks noGrp="1"/>
          </p:cNvSpPr>
          <p:nvPr>
            <p:ph type="dt" sz="half" idx="10"/>
          </p:nvPr>
        </p:nvSpPr>
        <p:spPr/>
        <p:txBody>
          <a:bodyPr/>
          <a:lstStyle/>
          <a:p>
            <a:fld id="{CA3DB405-E764-41F4-B447-D071251D084C}" type="datetimeFigureOut">
              <a:rPr lang="en-IN" smtClean="0"/>
              <a:t>21-08-2026</a:t>
            </a:fld>
            <a:endParaRPr lang="en-IN" dirty="0"/>
          </a:p>
        </p:txBody>
      </p:sp>
      <p:sp>
        <p:nvSpPr>
          <p:cNvPr id="5" name="Footer Placeholder 4">
            <a:extLst>
              <a:ext uri="{FF2B5EF4-FFF2-40B4-BE49-F238E27FC236}">
                <a16:creationId xmlns:a16="http://schemas.microsoft.com/office/drawing/2014/main" id="{2BE302AD-053A-A911-2039-4C156C25A14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E5DF7B1-4DC9-7D6C-2E59-0BA27FAA7A15}"/>
              </a:ext>
            </a:extLst>
          </p:cNvPr>
          <p:cNvSpPr>
            <a:spLocks noGrp="1"/>
          </p:cNvSpPr>
          <p:nvPr>
            <p:ph type="sldNum" sz="quarter" idx="12"/>
          </p:nvPr>
        </p:nvSpPr>
        <p:spPr/>
        <p:txBody>
          <a:bodyPr/>
          <a:lstStyle/>
          <a:p>
            <a:fld id="{BA992976-FF1D-4C84-86EA-4E994BDAF0C4}" type="slidenum">
              <a:rPr lang="en-IN" smtClean="0"/>
              <a:t>‹#›</a:t>
            </a:fld>
            <a:endParaRPr lang="en-IN" dirty="0"/>
          </a:p>
        </p:txBody>
      </p:sp>
    </p:spTree>
    <p:extLst>
      <p:ext uri="{BB962C8B-B14F-4D97-AF65-F5344CB8AC3E}">
        <p14:creationId xmlns:p14="http://schemas.microsoft.com/office/powerpoint/2010/main" val="1485224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1DC5AF-FAB6-BE66-12B9-753F03755E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593CED-471B-9FD3-2256-C124A46767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0A952F-5618-A434-725A-B308611995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3DB405-E764-41F4-B447-D071251D084C}" type="datetimeFigureOut">
              <a:rPr lang="en-IN" smtClean="0"/>
              <a:t>21-08-2026</a:t>
            </a:fld>
            <a:endParaRPr lang="en-IN" dirty="0"/>
          </a:p>
        </p:txBody>
      </p:sp>
      <p:sp>
        <p:nvSpPr>
          <p:cNvPr id="5" name="Footer Placeholder 4">
            <a:extLst>
              <a:ext uri="{FF2B5EF4-FFF2-40B4-BE49-F238E27FC236}">
                <a16:creationId xmlns:a16="http://schemas.microsoft.com/office/drawing/2014/main" id="{64FAAD65-91A9-2320-1551-96F298B32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F9588B44-0CFE-EB7E-F515-83FFD8A79C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992976-FF1D-4C84-86EA-4E994BDAF0C4}" type="slidenum">
              <a:rPr lang="en-IN" smtClean="0"/>
              <a:t>‹#›</a:t>
            </a:fld>
            <a:endParaRPr lang="en-IN" dirty="0"/>
          </a:p>
        </p:txBody>
      </p:sp>
    </p:spTree>
    <p:extLst>
      <p:ext uri="{BB962C8B-B14F-4D97-AF65-F5344CB8AC3E}">
        <p14:creationId xmlns:p14="http://schemas.microsoft.com/office/powerpoint/2010/main" val="1528711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github.com/biswajit-sasmal/netflix-india-youtube-analytices"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5D44xtgZlv8?si=_YggCjWBmXY71xgg" TargetMode="External"/><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hyperlink" Target="https://youtu.be/asxx8fnzjBQ?si=LbjMqXTjLqVVeeat" TargetMode="External"/><Relationship Id="rId4" Type="http://schemas.openxmlformats.org/officeDocument/2006/relationships/hyperlink" Target="https://youtu.be/Kwqayc6tDPY?si=efpL80h4cdZP4Ji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hyperlink" Target="mailto:biswajitsasmal.data@gmail.com" TargetMode="External"/><Relationship Id="rId1" Type="http://schemas.openxmlformats.org/officeDocument/2006/relationships/slideLayout" Target="../slideLayouts/slideLayout7.xml"/><Relationship Id="rId6" Type="http://schemas.openxmlformats.org/officeDocument/2006/relationships/hyperlink" Target="https://www.linkedin.com/in/biswajitsasmal/" TargetMode="External"/><Relationship Id="rId5" Type="http://schemas.openxmlformats.org/officeDocument/2006/relationships/image" Target="../media/image25.png"/><Relationship Id="rId4" Type="http://schemas.openxmlformats.org/officeDocument/2006/relationships/hyperlink" Target="https://github.com/biswajit-sasm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0145DC-FDB2-D6C0-DC56-36994E842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5291" y="2271346"/>
            <a:ext cx="4661417" cy="2620109"/>
          </a:xfrm>
          <a:prstGeom prst="roundRect">
            <a:avLst>
              <a:gd name="adj" fmla="val 7942"/>
            </a:avLst>
          </a:prstGeom>
          <a:effectLst>
            <a:outerShdw blurRad="50800" dist="38100" dir="5400000" algn="t" rotWithShape="0">
              <a:prstClr val="black">
                <a:alpha val="40000"/>
              </a:prstClr>
            </a:outerShdw>
            <a:reflection blurRad="6350" stA="50000" endA="300" endPos="55000" dir="5400000" sy="-100000" algn="bl" rotWithShape="0"/>
          </a:effectLst>
        </p:spPr>
      </p:pic>
      <p:sp>
        <p:nvSpPr>
          <p:cNvPr id="6" name="TextBox 5">
            <a:extLst>
              <a:ext uri="{FF2B5EF4-FFF2-40B4-BE49-F238E27FC236}">
                <a16:creationId xmlns:a16="http://schemas.microsoft.com/office/drawing/2014/main" id="{500EC1C9-5E92-BF26-6F70-AC628F47532D}"/>
              </a:ext>
            </a:extLst>
          </p:cNvPr>
          <p:cNvSpPr txBox="1"/>
          <p:nvPr/>
        </p:nvSpPr>
        <p:spPr>
          <a:xfrm>
            <a:off x="1304923" y="280631"/>
            <a:ext cx="9582151" cy="769441"/>
          </a:xfrm>
          <a:prstGeom prst="rect">
            <a:avLst/>
          </a:prstGeom>
          <a:noFill/>
        </p:spPr>
        <p:txBody>
          <a:bodyPr wrap="square" rtlCol="0">
            <a:spAutoFit/>
          </a:bodyPr>
          <a:lstStyle/>
          <a:p>
            <a:pPr algn="ctr"/>
            <a:r>
              <a:rPr lang="en-IN" sz="4400" b="1" spc="300" dirty="0">
                <a:solidFill>
                  <a:srgbClr val="E50914"/>
                </a:solidFill>
                <a:latin typeface="Aparajita" panose="02020603050405020304" pitchFamily="18" charset="0"/>
                <a:cs typeface="Aparajita" panose="02020603050405020304" pitchFamily="18" charset="0"/>
              </a:rPr>
              <a:t>Netflix India YouTube Channel Analysis</a:t>
            </a:r>
          </a:p>
        </p:txBody>
      </p:sp>
      <p:sp>
        <p:nvSpPr>
          <p:cNvPr id="7" name="TextBox 6">
            <a:extLst>
              <a:ext uri="{FF2B5EF4-FFF2-40B4-BE49-F238E27FC236}">
                <a16:creationId xmlns:a16="http://schemas.microsoft.com/office/drawing/2014/main" id="{96130FFA-F6D3-4B55-F15F-2D23D177897A}"/>
              </a:ext>
            </a:extLst>
          </p:cNvPr>
          <p:cNvSpPr txBox="1"/>
          <p:nvPr/>
        </p:nvSpPr>
        <p:spPr>
          <a:xfrm>
            <a:off x="1189011" y="1108198"/>
            <a:ext cx="9671099"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A minimal presentation showcasing content performance, engagement, and channel insights</a:t>
            </a:r>
          </a:p>
        </p:txBody>
      </p:sp>
      <p:cxnSp>
        <p:nvCxnSpPr>
          <p:cNvPr id="9" name="Straight Connector 8">
            <a:extLst>
              <a:ext uri="{FF2B5EF4-FFF2-40B4-BE49-F238E27FC236}">
                <a16:creationId xmlns:a16="http://schemas.microsoft.com/office/drawing/2014/main" id="{4D6BF25E-85D2-1E6C-D36F-E04E7EA6D70B}"/>
              </a:ext>
            </a:extLst>
          </p:cNvPr>
          <p:cNvCxnSpPr/>
          <p:nvPr/>
        </p:nvCxnSpPr>
        <p:spPr>
          <a:xfrm>
            <a:off x="1304923" y="981075"/>
            <a:ext cx="9439277"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A2E4D023-B4F0-F3B7-5029-F7BDC9C96E32}"/>
              </a:ext>
            </a:extLst>
          </p:cNvPr>
          <p:cNvSpPr txBox="1"/>
          <p:nvPr/>
        </p:nvSpPr>
        <p:spPr>
          <a:xfrm>
            <a:off x="8426708" y="5931038"/>
            <a:ext cx="2981325" cy="646331"/>
          </a:xfrm>
          <a:prstGeom prst="rect">
            <a:avLst/>
          </a:prstGeom>
          <a:noFill/>
        </p:spPr>
        <p:txBody>
          <a:bodyPr wrap="square" rtlCol="0">
            <a:spAutoFit/>
          </a:bodyPr>
          <a:lstStyle/>
          <a:p>
            <a:r>
              <a:rPr lang="en-IN" dirty="0">
                <a:solidFill>
                  <a:srgbClr val="F5F5F5"/>
                </a:solidFill>
                <a:latin typeface="Aparajita" panose="02020603050405020304" pitchFamily="18" charset="0"/>
                <a:cs typeface="Aparajita" panose="02020603050405020304" pitchFamily="18" charset="0"/>
              </a:rPr>
              <a:t>Presented By : BISWAJIT SASMAL</a:t>
            </a:r>
          </a:p>
          <a:p>
            <a:r>
              <a:rPr lang="en-IN" dirty="0">
                <a:solidFill>
                  <a:srgbClr val="F5F5F5"/>
                </a:solidFill>
                <a:latin typeface="Aparajita" panose="02020603050405020304" pitchFamily="18" charset="0"/>
                <a:cs typeface="Aparajita" panose="02020603050405020304" pitchFamily="18" charset="0"/>
              </a:rPr>
              <a:t>DATE : 04-08-2026</a:t>
            </a:r>
          </a:p>
        </p:txBody>
      </p:sp>
    </p:spTree>
    <p:extLst>
      <p:ext uri="{BB962C8B-B14F-4D97-AF65-F5344CB8AC3E}">
        <p14:creationId xmlns:p14="http://schemas.microsoft.com/office/powerpoint/2010/main" val="3163728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369E62-3DB1-7409-71C5-3FCCBE052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567" y="2523903"/>
            <a:ext cx="7757652" cy="2530890"/>
          </a:xfrm>
          <a:prstGeom prst="rect">
            <a:avLst/>
          </a:prstGeom>
        </p:spPr>
      </p:pic>
      <p:sp>
        <p:nvSpPr>
          <p:cNvPr id="2" name="TextBox 1">
            <a:extLst>
              <a:ext uri="{FF2B5EF4-FFF2-40B4-BE49-F238E27FC236}">
                <a16:creationId xmlns:a16="http://schemas.microsoft.com/office/drawing/2014/main" id="{C826FFC8-23E2-F8FF-E7ED-4B2BCAE885AB}"/>
              </a:ext>
            </a:extLst>
          </p:cNvPr>
          <p:cNvSpPr txBox="1"/>
          <p:nvPr/>
        </p:nvSpPr>
        <p:spPr>
          <a:xfrm>
            <a:off x="3844413" y="146869"/>
            <a:ext cx="4925962" cy="769441"/>
          </a:xfrm>
          <a:prstGeom prst="rect">
            <a:avLst/>
          </a:prstGeom>
          <a:noFill/>
        </p:spPr>
        <p:txBody>
          <a:bodyPr wrap="square" rtlCol="0">
            <a:spAutoFit/>
          </a:bodyPr>
          <a:lstStyle/>
          <a:p>
            <a:pPr algn="ctr"/>
            <a:r>
              <a:rPr lang="en-IN" sz="4400" b="1" spc="300" dirty="0">
                <a:solidFill>
                  <a:srgbClr val="E50914"/>
                </a:solidFill>
                <a:latin typeface="Aparajita" panose="02020603050405020304" pitchFamily="18" charset="0"/>
                <a:cs typeface="Aparajita" panose="02020603050405020304" pitchFamily="18" charset="0"/>
              </a:rPr>
              <a:t>Project Objective</a:t>
            </a:r>
          </a:p>
        </p:txBody>
      </p:sp>
      <p:sp>
        <p:nvSpPr>
          <p:cNvPr id="3" name="TextBox 2">
            <a:extLst>
              <a:ext uri="{FF2B5EF4-FFF2-40B4-BE49-F238E27FC236}">
                <a16:creationId xmlns:a16="http://schemas.microsoft.com/office/drawing/2014/main" id="{86BB032D-775C-098A-CB5F-0F41279DCF49}"/>
              </a:ext>
            </a:extLst>
          </p:cNvPr>
          <p:cNvSpPr txBox="1"/>
          <p:nvPr/>
        </p:nvSpPr>
        <p:spPr>
          <a:xfrm>
            <a:off x="2102106" y="1638301"/>
            <a:ext cx="8410575" cy="1200329"/>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Identify the key factors driving YouTube video performance on Netflix India's channel and translate the findings into actionable content strategy recommendations.</a:t>
            </a:r>
          </a:p>
        </p:txBody>
      </p:sp>
      <p:pic>
        <p:nvPicPr>
          <p:cNvPr id="7" name="Picture 6">
            <a:extLst>
              <a:ext uri="{FF2B5EF4-FFF2-40B4-BE49-F238E27FC236}">
                <a16:creationId xmlns:a16="http://schemas.microsoft.com/office/drawing/2014/main" id="{BA321298-435C-A79F-D929-C11F6C769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cxnSp>
        <p:nvCxnSpPr>
          <p:cNvPr id="8" name="Straight Connector 7">
            <a:extLst>
              <a:ext uri="{FF2B5EF4-FFF2-40B4-BE49-F238E27FC236}">
                <a16:creationId xmlns:a16="http://schemas.microsoft.com/office/drawing/2014/main" id="{6BE21466-092D-7CD5-262B-F1F27BCF3EBD}"/>
              </a:ext>
            </a:extLst>
          </p:cNvPr>
          <p:cNvCxnSpPr>
            <a:cxnSpLocks/>
          </p:cNvCxnSpPr>
          <p:nvPr/>
        </p:nvCxnSpPr>
        <p:spPr>
          <a:xfrm>
            <a:off x="4275189" y="771899"/>
            <a:ext cx="4010025"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BCF8A822-7EFD-E030-8CE9-4E39D9C967E6}"/>
              </a:ext>
            </a:extLst>
          </p:cNvPr>
          <p:cNvSpPr txBox="1"/>
          <p:nvPr/>
        </p:nvSpPr>
        <p:spPr>
          <a:xfrm>
            <a:off x="2787445" y="5219699"/>
            <a:ext cx="7039896" cy="461665"/>
          </a:xfrm>
          <a:prstGeom prst="rect">
            <a:avLst/>
          </a:prstGeom>
          <a:noFill/>
        </p:spPr>
        <p:txBody>
          <a:bodyPr wrap="square" rtlCol="0">
            <a:spAutoFit/>
          </a:bodyPr>
          <a:lstStyle/>
          <a:p>
            <a:pPr algn="ctr"/>
            <a:r>
              <a:rPr lang="en-IN" sz="2400" dirty="0">
                <a:solidFill>
                  <a:schemeClr val="bg1"/>
                </a:solidFill>
                <a:latin typeface="Aparajita" panose="02020603050405020304" pitchFamily="18" charset="0"/>
                <a:cs typeface="Aparajita" panose="02020603050405020304" pitchFamily="18" charset="0"/>
              </a:rPr>
              <a:t>To See Full Data Cleaning &amp; EDA for Research Questions Analysis : </a:t>
            </a:r>
          </a:p>
        </p:txBody>
      </p:sp>
      <p:sp>
        <p:nvSpPr>
          <p:cNvPr id="9" name="TextBox 8">
            <a:extLst>
              <a:ext uri="{FF2B5EF4-FFF2-40B4-BE49-F238E27FC236}">
                <a16:creationId xmlns:a16="http://schemas.microsoft.com/office/drawing/2014/main" id="{E197DA19-D737-94D8-C9D4-014F764A6443}"/>
              </a:ext>
            </a:extLst>
          </p:cNvPr>
          <p:cNvSpPr txBox="1"/>
          <p:nvPr/>
        </p:nvSpPr>
        <p:spPr>
          <a:xfrm>
            <a:off x="5024283" y="5691197"/>
            <a:ext cx="2851355" cy="400110"/>
          </a:xfrm>
          <a:prstGeom prst="rect">
            <a:avLst/>
          </a:prstGeom>
          <a:noFill/>
        </p:spPr>
        <p:txBody>
          <a:bodyPr wrap="square" rtlCol="0">
            <a:spAutoFit/>
          </a:bodyPr>
          <a:lstStyle/>
          <a:p>
            <a:pPr algn="ctr"/>
            <a:r>
              <a:rPr lang="en-IN" sz="2000" dirty="0">
                <a:solidFill>
                  <a:schemeClr val="bg1"/>
                </a:solidFill>
                <a:latin typeface="Aparajita" panose="02020603050405020304" pitchFamily="18" charset="0"/>
                <a:cs typeface="Aparajita" panose="02020603050405020304" pitchFamily="18" charset="0"/>
                <a:hlinkClick r:id="rId4"/>
              </a:rPr>
              <a:t>GitHub Repository Link</a:t>
            </a:r>
            <a:endParaRPr lang="en-IN" sz="2000" dirty="0">
              <a:solidFill>
                <a:schemeClr val="bg1"/>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1823908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522B34-42E5-6D18-595E-61C77B209063}"/>
              </a:ext>
            </a:extLst>
          </p:cNvPr>
          <p:cNvSpPr txBox="1"/>
          <p:nvPr/>
        </p:nvSpPr>
        <p:spPr>
          <a:xfrm>
            <a:off x="3767137" y="142875"/>
            <a:ext cx="4495800" cy="769441"/>
          </a:xfrm>
          <a:prstGeom prst="rect">
            <a:avLst/>
          </a:prstGeom>
          <a:noFill/>
        </p:spPr>
        <p:txBody>
          <a:bodyPr wrap="square" rtlCol="0">
            <a:spAutoFit/>
          </a:bodyPr>
          <a:lstStyle/>
          <a:p>
            <a:pPr algn="ctr"/>
            <a:r>
              <a:rPr lang="en-IN" sz="4400" b="1" spc="300" dirty="0">
                <a:solidFill>
                  <a:srgbClr val="E50914"/>
                </a:solidFill>
                <a:latin typeface="Aparajita" panose="02020603050405020304" pitchFamily="18" charset="0"/>
                <a:cs typeface="Aparajita" panose="02020603050405020304" pitchFamily="18" charset="0"/>
              </a:rPr>
              <a:t>Dataset Overview</a:t>
            </a:r>
          </a:p>
        </p:txBody>
      </p:sp>
      <p:cxnSp>
        <p:nvCxnSpPr>
          <p:cNvPr id="3" name="Straight Connector 2">
            <a:extLst>
              <a:ext uri="{FF2B5EF4-FFF2-40B4-BE49-F238E27FC236}">
                <a16:creationId xmlns:a16="http://schemas.microsoft.com/office/drawing/2014/main" id="{2DBD9D40-6ED6-6F79-7B4F-98B2CA88999E}"/>
              </a:ext>
            </a:extLst>
          </p:cNvPr>
          <p:cNvCxnSpPr>
            <a:cxnSpLocks/>
          </p:cNvCxnSpPr>
          <p:nvPr/>
        </p:nvCxnSpPr>
        <p:spPr>
          <a:xfrm>
            <a:off x="3958713" y="728883"/>
            <a:ext cx="408407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D2EA1A65-F40D-17B8-1C22-6CA2E575B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pic>
        <p:nvPicPr>
          <p:cNvPr id="33" name="Picture 32">
            <a:extLst>
              <a:ext uri="{FF2B5EF4-FFF2-40B4-BE49-F238E27FC236}">
                <a16:creationId xmlns:a16="http://schemas.microsoft.com/office/drawing/2014/main" id="{A75CD52C-5260-6E07-C7A0-9EEC31DBA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835" y="1445674"/>
            <a:ext cx="2650301" cy="1439998"/>
          </a:xfrm>
          <a:prstGeom prst="roundRect">
            <a:avLst/>
          </a:prstGeom>
        </p:spPr>
      </p:pic>
      <p:pic>
        <p:nvPicPr>
          <p:cNvPr id="35" name="Picture 34">
            <a:extLst>
              <a:ext uri="{FF2B5EF4-FFF2-40B4-BE49-F238E27FC236}">
                <a16:creationId xmlns:a16="http://schemas.microsoft.com/office/drawing/2014/main" id="{A107F94D-AE57-CC11-033B-18F8F1645E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1884" y="3972329"/>
            <a:ext cx="2705251" cy="1486451"/>
          </a:xfrm>
          <a:prstGeom prst="roundRect">
            <a:avLst/>
          </a:prstGeom>
        </p:spPr>
      </p:pic>
      <p:pic>
        <p:nvPicPr>
          <p:cNvPr id="37" name="Picture 36">
            <a:extLst>
              <a:ext uri="{FF2B5EF4-FFF2-40B4-BE49-F238E27FC236}">
                <a16:creationId xmlns:a16="http://schemas.microsoft.com/office/drawing/2014/main" id="{36FF9225-4EC3-9F46-DFCA-23FA041CDB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0098" y="1422447"/>
            <a:ext cx="2741046" cy="1439999"/>
          </a:xfrm>
          <a:prstGeom prst="roundRect">
            <a:avLst/>
          </a:prstGeom>
        </p:spPr>
      </p:pic>
      <p:pic>
        <p:nvPicPr>
          <p:cNvPr id="39" name="Picture 38">
            <a:extLst>
              <a:ext uri="{FF2B5EF4-FFF2-40B4-BE49-F238E27FC236}">
                <a16:creationId xmlns:a16="http://schemas.microsoft.com/office/drawing/2014/main" id="{9B38EBF1-C205-D432-73ED-78C657F13E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06347" y="1410834"/>
            <a:ext cx="2774540" cy="1439999"/>
          </a:xfrm>
          <a:prstGeom prst="roundRect">
            <a:avLst/>
          </a:prstGeom>
        </p:spPr>
      </p:pic>
      <p:pic>
        <p:nvPicPr>
          <p:cNvPr id="41" name="Picture 40">
            <a:extLst>
              <a:ext uri="{FF2B5EF4-FFF2-40B4-BE49-F238E27FC236}">
                <a16:creationId xmlns:a16="http://schemas.microsoft.com/office/drawing/2014/main" id="{DCA47583-44F8-C8C3-CB6B-6CF0E5032B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06347" y="3934180"/>
            <a:ext cx="2774540" cy="1512986"/>
          </a:xfrm>
          <a:prstGeom prst="roundRect">
            <a:avLst/>
          </a:prstGeom>
        </p:spPr>
      </p:pic>
      <p:pic>
        <p:nvPicPr>
          <p:cNvPr id="43" name="Picture 42">
            <a:extLst>
              <a:ext uri="{FF2B5EF4-FFF2-40B4-BE49-F238E27FC236}">
                <a16:creationId xmlns:a16="http://schemas.microsoft.com/office/drawing/2014/main" id="{D38AD829-98D5-0208-5B52-F9AB49DE77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20099" y="3945794"/>
            <a:ext cx="2741047" cy="1489759"/>
          </a:xfrm>
          <a:prstGeom prst="roundRect">
            <a:avLst/>
          </a:prstGeom>
        </p:spPr>
      </p:pic>
    </p:spTree>
    <p:extLst>
      <p:ext uri="{BB962C8B-B14F-4D97-AF65-F5344CB8AC3E}">
        <p14:creationId xmlns:p14="http://schemas.microsoft.com/office/powerpoint/2010/main" val="1600517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57374B-0150-99E2-62E9-16E49152A34F}"/>
              </a:ext>
            </a:extLst>
          </p:cNvPr>
          <p:cNvSpPr txBox="1"/>
          <p:nvPr/>
        </p:nvSpPr>
        <p:spPr>
          <a:xfrm>
            <a:off x="3768211" y="46411"/>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1</a:t>
            </a:r>
          </a:p>
        </p:txBody>
      </p:sp>
      <p:cxnSp>
        <p:nvCxnSpPr>
          <p:cNvPr id="3" name="Straight Connector 2">
            <a:extLst>
              <a:ext uri="{FF2B5EF4-FFF2-40B4-BE49-F238E27FC236}">
                <a16:creationId xmlns:a16="http://schemas.microsoft.com/office/drawing/2014/main" id="{90A066AA-A314-5BC9-8720-CD68BD35B96F}"/>
              </a:ext>
            </a:extLst>
          </p:cNvPr>
          <p:cNvCxnSpPr>
            <a:cxnSpLocks/>
          </p:cNvCxnSpPr>
          <p:nvPr/>
        </p:nvCxnSpPr>
        <p:spPr>
          <a:xfrm>
            <a:off x="3790335" y="638872"/>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4" name="TextBox 3">
            <a:extLst>
              <a:ext uri="{FF2B5EF4-FFF2-40B4-BE49-F238E27FC236}">
                <a16:creationId xmlns:a16="http://schemas.microsoft.com/office/drawing/2014/main" id="{94B345DD-834B-F331-E0CD-18A20A4C9DD4}"/>
              </a:ext>
            </a:extLst>
          </p:cNvPr>
          <p:cNvSpPr txBox="1"/>
          <p:nvPr/>
        </p:nvSpPr>
        <p:spPr>
          <a:xfrm>
            <a:off x="2713703" y="943897"/>
            <a:ext cx="6764593" cy="461665"/>
          </a:xfrm>
          <a:prstGeom prst="rect">
            <a:avLst/>
          </a:prstGeom>
          <a:noFill/>
        </p:spPr>
        <p:txBody>
          <a:bodyPr wrap="square" rtlCol="0">
            <a:spAutoFit/>
          </a:bodyPr>
          <a:lstStyle/>
          <a:p>
            <a:r>
              <a:rPr lang="en-IN" sz="2400" dirty="0">
                <a:solidFill>
                  <a:srgbClr val="F5F5F5"/>
                </a:solidFill>
                <a:latin typeface="Aparajita" panose="02020603050405020304" pitchFamily="18" charset="0"/>
                <a:cs typeface="Aparajita" panose="02020603050405020304" pitchFamily="18" charset="0"/>
              </a:rPr>
              <a:t>Does the duration of the video influence the views and comments? </a:t>
            </a:r>
          </a:p>
        </p:txBody>
      </p:sp>
      <p:pic>
        <p:nvPicPr>
          <p:cNvPr id="6" name="Picture 5">
            <a:extLst>
              <a:ext uri="{FF2B5EF4-FFF2-40B4-BE49-F238E27FC236}">
                <a16:creationId xmlns:a16="http://schemas.microsoft.com/office/drawing/2014/main" id="{1A9F1376-77D2-9EEA-20F8-9E5C16DE6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135" y="1728408"/>
            <a:ext cx="4517136" cy="2606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22783AAD-AA20-5482-2826-70F0DB7F829F}"/>
              </a:ext>
            </a:extLst>
          </p:cNvPr>
          <p:cNvSpPr txBox="1"/>
          <p:nvPr/>
        </p:nvSpPr>
        <p:spPr>
          <a:xfrm>
            <a:off x="3458495" y="4540020"/>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pic>
        <p:nvPicPr>
          <p:cNvPr id="14" name="Picture 13">
            <a:extLst>
              <a:ext uri="{FF2B5EF4-FFF2-40B4-BE49-F238E27FC236}">
                <a16:creationId xmlns:a16="http://schemas.microsoft.com/office/drawing/2014/main" id="{D5B3A823-2250-F90B-D248-DC913BCAF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7614" y="1694208"/>
            <a:ext cx="4820910" cy="27070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TextBox 14">
            <a:extLst>
              <a:ext uri="{FF2B5EF4-FFF2-40B4-BE49-F238E27FC236}">
                <a16:creationId xmlns:a16="http://schemas.microsoft.com/office/drawing/2014/main" id="{D936E121-72FC-6DD2-452D-A7700FBC1B75}"/>
              </a:ext>
            </a:extLst>
          </p:cNvPr>
          <p:cNvSpPr txBox="1"/>
          <p:nvPr/>
        </p:nvSpPr>
        <p:spPr>
          <a:xfrm>
            <a:off x="1578077" y="4951164"/>
            <a:ext cx="9035845" cy="1815882"/>
          </a:xfrm>
          <a:prstGeom prst="rect">
            <a:avLst/>
          </a:prstGeom>
          <a:noFill/>
        </p:spPr>
        <p:txBody>
          <a:bodyPr wrap="square" rtlCol="0">
            <a:spAutoFit/>
          </a:bodyPr>
          <a:lstStyle/>
          <a:p>
            <a:r>
              <a:rPr lang="en-IN" sz="1600" dirty="0">
                <a:solidFill>
                  <a:srgbClr val="F5F5F5"/>
                </a:solidFill>
                <a:latin typeface="Calisto MT" panose="02040603050505030304" pitchFamily="18" charset="0"/>
                <a:cs typeface="Aparajita" panose="02020603050405020304" pitchFamily="18" charset="0"/>
              </a:rPr>
              <a:t>1). Although the overall relationship is negligible, videos between 4 and 10 minutes achieve the highest average view count (2.68 million views), followed by videos between 0 and 3 minutes (2.07 million views). </a:t>
            </a:r>
          </a:p>
          <a:p>
            <a:endParaRPr lang="en-IN" sz="1600" dirty="0">
              <a:solidFill>
                <a:srgbClr val="F5F5F5"/>
              </a:solidFill>
              <a:latin typeface="Calisto MT" panose="02040603050505030304" pitchFamily="18" charset="0"/>
              <a:cs typeface="Aparajita" panose="02020603050405020304" pitchFamily="18" charset="0"/>
            </a:endParaRPr>
          </a:p>
          <a:p>
            <a:r>
              <a:rPr lang="en-IN" sz="1600" dirty="0">
                <a:solidFill>
                  <a:srgbClr val="F5F5F5"/>
                </a:solidFill>
                <a:latin typeface="Calisto MT" panose="02040603050505030304" pitchFamily="18" charset="0"/>
                <a:cs typeface="Aparajita" panose="02020603050405020304" pitchFamily="18" charset="0"/>
              </a:rPr>
              <a:t>2).This indicates that short to medium-length videos tend to attract more viewers than longer videos on the Netflix India YouTube channel.</a:t>
            </a:r>
          </a:p>
          <a:p>
            <a:endParaRPr lang="en-IN" sz="1600" dirty="0">
              <a:solidFill>
                <a:srgbClr val="F5F5F5"/>
              </a:solidFill>
              <a:latin typeface="Calisto MT" panose="02040603050505030304" pitchFamily="18" charset="0"/>
              <a:cs typeface="Aparajita" panose="02020603050405020304" pitchFamily="18" charset="0"/>
            </a:endParaRPr>
          </a:p>
        </p:txBody>
      </p:sp>
      <p:pic>
        <p:nvPicPr>
          <p:cNvPr id="17" name="Picture 16">
            <a:extLst>
              <a:ext uri="{FF2B5EF4-FFF2-40B4-BE49-F238E27FC236}">
                <a16:creationId xmlns:a16="http://schemas.microsoft.com/office/drawing/2014/main" id="{81F9499B-D5DE-4565-DE2B-98C853238D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Tree>
    <p:extLst>
      <p:ext uri="{BB962C8B-B14F-4D97-AF65-F5344CB8AC3E}">
        <p14:creationId xmlns:p14="http://schemas.microsoft.com/office/powerpoint/2010/main" val="802884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70114F-51D1-6CA2-F4CB-149E656EDB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pic>
        <p:nvPicPr>
          <p:cNvPr id="5" name="Picture 4">
            <a:extLst>
              <a:ext uri="{FF2B5EF4-FFF2-40B4-BE49-F238E27FC236}">
                <a16:creationId xmlns:a16="http://schemas.microsoft.com/office/drawing/2014/main" id="{CD513FD8-4A9C-4342-D33F-60890D681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698" y="1193703"/>
            <a:ext cx="4716571" cy="2628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9F3145D5-DC12-B1DF-B8D2-E0E5692401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6249" y="1193703"/>
            <a:ext cx="5116320" cy="2628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TextBox 7">
            <a:extLst>
              <a:ext uri="{FF2B5EF4-FFF2-40B4-BE49-F238E27FC236}">
                <a16:creationId xmlns:a16="http://schemas.microsoft.com/office/drawing/2014/main" id="{554FF77F-806D-0898-42B4-23BB7B2420F4}"/>
              </a:ext>
            </a:extLst>
          </p:cNvPr>
          <p:cNvSpPr txBox="1"/>
          <p:nvPr/>
        </p:nvSpPr>
        <p:spPr>
          <a:xfrm>
            <a:off x="1978742" y="254878"/>
            <a:ext cx="8327922" cy="461665"/>
          </a:xfrm>
          <a:prstGeom prst="rect">
            <a:avLst/>
          </a:prstGeom>
          <a:noFill/>
        </p:spPr>
        <p:txBody>
          <a:bodyPr wrap="square" rtlCol="0">
            <a:spAutoFit/>
          </a:bodyPr>
          <a:lstStyle/>
          <a:p>
            <a:pPr algn="ctr"/>
            <a:r>
              <a:rPr lang="en-IN" sz="2400" spc="300" dirty="0">
                <a:solidFill>
                  <a:srgbClr val="F5F5F5"/>
                </a:solidFill>
                <a:latin typeface="Aparajita" panose="02020603050405020304" pitchFamily="18" charset="0"/>
                <a:cs typeface="Aparajita" panose="02020603050405020304" pitchFamily="18" charset="0"/>
              </a:rPr>
              <a:t>Video Duration  and Comment Count Analysis</a:t>
            </a:r>
          </a:p>
        </p:txBody>
      </p:sp>
      <p:sp>
        <p:nvSpPr>
          <p:cNvPr id="10" name="TextBox 9">
            <a:extLst>
              <a:ext uri="{FF2B5EF4-FFF2-40B4-BE49-F238E27FC236}">
                <a16:creationId xmlns:a16="http://schemas.microsoft.com/office/drawing/2014/main" id="{35B13412-5BED-FE3F-7CA3-7B588A56AEA1}"/>
              </a:ext>
            </a:extLst>
          </p:cNvPr>
          <p:cNvSpPr txBox="1"/>
          <p:nvPr/>
        </p:nvSpPr>
        <p:spPr>
          <a:xfrm>
            <a:off x="3517489" y="4208801"/>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
        <p:nvSpPr>
          <p:cNvPr id="11" name="TextBox 10">
            <a:extLst>
              <a:ext uri="{FF2B5EF4-FFF2-40B4-BE49-F238E27FC236}">
                <a16:creationId xmlns:a16="http://schemas.microsoft.com/office/drawing/2014/main" id="{EE75A7A6-0DE5-2899-4BBD-059EE7DEC989}"/>
              </a:ext>
            </a:extLst>
          </p:cNvPr>
          <p:cNvSpPr txBox="1"/>
          <p:nvPr/>
        </p:nvSpPr>
        <p:spPr>
          <a:xfrm>
            <a:off x="2025445" y="4670466"/>
            <a:ext cx="8234516" cy="1354217"/>
          </a:xfrm>
          <a:prstGeom prst="rect">
            <a:avLst/>
          </a:prstGeom>
          <a:noFill/>
        </p:spPr>
        <p:txBody>
          <a:bodyPr wrap="square" rtlCol="0">
            <a:spAutoFit/>
          </a:bodyPr>
          <a:lstStyle/>
          <a:p>
            <a:r>
              <a:rPr lang="en-IN" sz="1600" dirty="0">
                <a:solidFill>
                  <a:srgbClr val="F5F5F5"/>
                </a:solidFill>
                <a:latin typeface="Calisto MT" panose="02040603050505030304" pitchFamily="18" charset="0"/>
              </a:rPr>
              <a:t>Despite the weak overall relationship, videos with a duration of 11-30 minutes received the highest average number of comments (1,379 comments per video), outperforming both shorter and longer videos , suggesting that medium-length content may encourage relatively more audience discussion.</a:t>
            </a:r>
          </a:p>
          <a:p>
            <a:endParaRPr lang="en-IN" dirty="0">
              <a:solidFill>
                <a:srgbClr val="F5F5F5"/>
              </a:solidFill>
              <a:latin typeface="Calisto MT" panose="02040603050505030304" pitchFamily="18" charset="0"/>
            </a:endParaRPr>
          </a:p>
        </p:txBody>
      </p:sp>
    </p:spTree>
    <p:extLst>
      <p:ext uri="{BB962C8B-B14F-4D97-AF65-F5344CB8AC3E}">
        <p14:creationId xmlns:p14="http://schemas.microsoft.com/office/powerpoint/2010/main" val="3007846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32DA43-B554-FCCB-6880-029B22CAD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484F7BD4-4FEF-C272-AD34-89CA890D56D0}"/>
              </a:ext>
            </a:extLst>
          </p:cNvPr>
          <p:cNvSpPr txBox="1"/>
          <p:nvPr/>
        </p:nvSpPr>
        <p:spPr>
          <a:xfrm>
            <a:off x="3768209" y="100281"/>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2</a:t>
            </a:r>
          </a:p>
        </p:txBody>
      </p:sp>
      <p:cxnSp>
        <p:nvCxnSpPr>
          <p:cNvPr id="6" name="Straight Connector 5">
            <a:extLst>
              <a:ext uri="{FF2B5EF4-FFF2-40B4-BE49-F238E27FC236}">
                <a16:creationId xmlns:a16="http://schemas.microsoft.com/office/drawing/2014/main" id="{79E13902-D322-6AAF-CEA7-B52C8BC44D9E}"/>
              </a:ext>
            </a:extLst>
          </p:cNvPr>
          <p:cNvCxnSpPr>
            <a:cxnSpLocks/>
          </p:cNvCxnSpPr>
          <p:nvPr/>
        </p:nvCxnSpPr>
        <p:spPr>
          <a:xfrm>
            <a:off x="3768209" y="697865"/>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1ACFB2CC-B6A6-192C-EE7D-FBDEFAA74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6322" y="1720645"/>
            <a:ext cx="5781367" cy="2901811"/>
          </a:xfrm>
          <a:prstGeom prst="roundRect">
            <a:avLst>
              <a:gd name="adj" fmla="val 4559"/>
            </a:avLst>
          </a:prstGeom>
          <a:solidFill>
            <a:srgbClr val="FFFFFF">
              <a:shade val="85000"/>
            </a:srgbClr>
          </a:solidFill>
          <a:ln>
            <a:noFill/>
          </a:ln>
          <a:effectLst>
            <a:reflection blurRad="12700" stA="38000" endPos="28000" dist="5000" dir="5400000" sy="-100000" algn="bl" rotWithShape="0"/>
          </a:effectLst>
        </p:spPr>
      </p:pic>
      <p:sp>
        <p:nvSpPr>
          <p:cNvPr id="10" name="TextBox 9">
            <a:extLst>
              <a:ext uri="{FF2B5EF4-FFF2-40B4-BE49-F238E27FC236}">
                <a16:creationId xmlns:a16="http://schemas.microsoft.com/office/drawing/2014/main" id="{F21C0383-C8E4-B9F7-4F81-0AD7E51D54B0}"/>
              </a:ext>
            </a:extLst>
          </p:cNvPr>
          <p:cNvSpPr txBox="1"/>
          <p:nvPr/>
        </p:nvSpPr>
        <p:spPr>
          <a:xfrm>
            <a:off x="3613352" y="4760938"/>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
        <p:nvSpPr>
          <p:cNvPr id="11" name="TextBox 10">
            <a:extLst>
              <a:ext uri="{FF2B5EF4-FFF2-40B4-BE49-F238E27FC236}">
                <a16:creationId xmlns:a16="http://schemas.microsoft.com/office/drawing/2014/main" id="{24A015EF-5278-516F-B183-534292911948}"/>
              </a:ext>
            </a:extLst>
          </p:cNvPr>
          <p:cNvSpPr txBox="1"/>
          <p:nvPr/>
        </p:nvSpPr>
        <p:spPr>
          <a:xfrm>
            <a:off x="2300748" y="5284158"/>
            <a:ext cx="7767484" cy="1569660"/>
          </a:xfrm>
          <a:prstGeom prst="rect">
            <a:avLst/>
          </a:prstGeom>
          <a:noFill/>
        </p:spPr>
        <p:txBody>
          <a:bodyPr wrap="square" rtlCol="0">
            <a:spAutoFit/>
          </a:bodyPr>
          <a:lstStyle/>
          <a:p>
            <a:r>
              <a:rPr lang="en-IN" sz="1600" dirty="0">
                <a:solidFill>
                  <a:schemeClr val="bg1"/>
                </a:solidFill>
                <a:latin typeface="Calisto MT" panose="02040603050505030304" pitchFamily="18" charset="0"/>
              </a:rPr>
              <a:t>A weak positive correlation (r = 0.143) was observed between view count and comment count, indicating that videos with higher view counts tend to receive slightly more comments. However, the relationship is weak, suggesting that audience discussion is influenced by factors beyond the number of views, such as content type, emotional appeal, audience engagement, and the nature of the video.</a:t>
            </a:r>
          </a:p>
          <a:p>
            <a:endParaRPr lang="en-IN" sz="1400" dirty="0">
              <a:solidFill>
                <a:schemeClr val="bg1"/>
              </a:solidFill>
              <a:latin typeface="Calisto MT" panose="02040603050505030304" pitchFamily="18" charset="0"/>
            </a:endParaRPr>
          </a:p>
        </p:txBody>
      </p:sp>
      <p:sp>
        <p:nvSpPr>
          <p:cNvPr id="12" name="TextBox 11">
            <a:extLst>
              <a:ext uri="{FF2B5EF4-FFF2-40B4-BE49-F238E27FC236}">
                <a16:creationId xmlns:a16="http://schemas.microsoft.com/office/drawing/2014/main" id="{24AB8D33-1E46-7565-DF2C-C5BC39B2F2E5}"/>
              </a:ext>
            </a:extLst>
          </p:cNvPr>
          <p:cNvSpPr txBox="1"/>
          <p:nvPr/>
        </p:nvSpPr>
        <p:spPr>
          <a:xfrm>
            <a:off x="2890684" y="815852"/>
            <a:ext cx="6420464" cy="523220"/>
          </a:xfrm>
          <a:prstGeom prst="rect">
            <a:avLst/>
          </a:prstGeom>
          <a:noFill/>
        </p:spPr>
        <p:txBody>
          <a:bodyPr wrap="square" rtlCol="0">
            <a:spAutoFit/>
          </a:bodyPr>
          <a:lstStyle/>
          <a:p>
            <a:pPr algn="ctr"/>
            <a:r>
              <a:rPr lang="en-IN" sz="2800" dirty="0">
                <a:solidFill>
                  <a:schemeClr val="bg1"/>
                </a:solidFill>
                <a:latin typeface="Aparajita" panose="02020603050405020304" pitchFamily="18" charset="0"/>
                <a:cs typeface="Aparajita" panose="02020603050405020304" pitchFamily="18" charset="0"/>
              </a:rPr>
              <a:t>Is there a relation between the views and comments?</a:t>
            </a:r>
          </a:p>
        </p:txBody>
      </p:sp>
    </p:spTree>
    <p:extLst>
      <p:ext uri="{BB962C8B-B14F-4D97-AF65-F5344CB8AC3E}">
        <p14:creationId xmlns:p14="http://schemas.microsoft.com/office/powerpoint/2010/main" val="1509596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E6E03E-658A-C068-BE33-72D60A9BC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189C9199-2CF7-0B53-CFF9-8969214E33ED}"/>
              </a:ext>
            </a:extLst>
          </p:cNvPr>
          <p:cNvSpPr txBox="1"/>
          <p:nvPr/>
        </p:nvSpPr>
        <p:spPr>
          <a:xfrm>
            <a:off x="3768209" y="100281"/>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3</a:t>
            </a:r>
          </a:p>
        </p:txBody>
      </p:sp>
      <p:cxnSp>
        <p:nvCxnSpPr>
          <p:cNvPr id="6" name="Straight Connector 5">
            <a:extLst>
              <a:ext uri="{FF2B5EF4-FFF2-40B4-BE49-F238E27FC236}">
                <a16:creationId xmlns:a16="http://schemas.microsoft.com/office/drawing/2014/main" id="{550DB97B-D835-8833-EF5D-78035155A95B}"/>
              </a:ext>
            </a:extLst>
          </p:cNvPr>
          <p:cNvCxnSpPr>
            <a:cxnSpLocks/>
          </p:cNvCxnSpPr>
          <p:nvPr/>
        </p:nvCxnSpPr>
        <p:spPr>
          <a:xfrm>
            <a:off x="3888658" y="688033"/>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F276F98E-70DB-7EA7-8225-774547652CD1}"/>
              </a:ext>
            </a:extLst>
          </p:cNvPr>
          <p:cNvCxnSpPr>
            <a:cxnSpLocks/>
          </p:cNvCxnSpPr>
          <p:nvPr/>
        </p:nvCxnSpPr>
        <p:spPr>
          <a:xfrm>
            <a:off x="3768209" y="697865"/>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C1B3187E-0BFC-C909-2F86-440DA5970154}"/>
              </a:ext>
            </a:extLst>
          </p:cNvPr>
          <p:cNvSpPr txBox="1"/>
          <p:nvPr/>
        </p:nvSpPr>
        <p:spPr>
          <a:xfrm>
            <a:off x="3486766" y="859890"/>
            <a:ext cx="5218468" cy="461665"/>
          </a:xfrm>
          <a:prstGeom prst="rect">
            <a:avLst/>
          </a:prstGeom>
          <a:noFill/>
        </p:spPr>
        <p:txBody>
          <a:bodyPr wrap="square" rtlCol="0">
            <a:spAutoFit/>
          </a:bodyPr>
          <a:lstStyle/>
          <a:p>
            <a:pPr algn="ctr"/>
            <a:r>
              <a:rPr lang="en-IN" sz="2400" dirty="0">
                <a:solidFill>
                  <a:schemeClr val="bg1"/>
                </a:solidFill>
                <a:latin typeface="Aparajita" panose="02020603050405020304" pitchFamily="18" charset="0"/>
                <a:cs typeface="Aparajita" panose="02020603050405020304" pitchFamily="18" charset="0"/>
              </a:rPr>
              <a:t>Does tag count matter to get more views? </a:t>
            </a:r>
          </a:p>
        </p:txBody>
      </p:sp>
      <p:pic>
        <p:nvPicPr>
          <p:cNvPr id="11" name="Picture 10">
            <a:extLst>
              <a:ext uri="{FF2B5EF4-FFF2-40B4-BE49-F238E27FC236}">
                <a16:creationId xmlns:a16="http://schemas.microsoft.com/office/drawing/2014/main" id="{4C997A3F-5B1F-F594-DBD3-699825B3B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698" y="1629331"/>
            <a:ext cx="4684250" cy="2696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a:extLst>
              <a:ext uri="{FF2B5EF4-FFF2-40B4-BE49-F238E27FC236}">
                <a16:creationId xmlns:a16="http://schemas.microsoft.com/office/drawing/2014/main" id="{D7B4D7A0-94EF-6774-2AC3-5D4152A367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6054" y="1629331"/>
            <a:ext cx="4753189" cy="2696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TextBox 14">
            <a:extLst>
              <a:ext uri="{FF2B5EF4-FFF2-40B4-BE49-F238E27FC236}">
                <a16:creationId xmlns:a16="http://schemas.microsoft.com/office/drawing/2014/main" id="{1048F6F2-2D01-3EEB-A62B-F20982A3AB59}"/>
              </a:ext>
            </a:extLst>
          </p:cNvPr>
          <p:cNvSpPr txBox="1"/>
          <p:nvPr/>
        </p:nvSpPr>
        <p:spPr>
          <a:xfrm>
            <a:off x="3613350" y="4634099"/>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
        <p:nvSpPr>
          <p:cNvPr id="16" name="TextBox 15">
            <a:extLst>
              <a:ext uri="{FF2B5EF4-FFF2-40B4-BE49-F238E27FC236}">
                <a16:creationId xmlns:a16="http://schemas.microsoft.com/office/drawing/2014/main" id="{952F91CC-E2F4-8E93-C67F-E1D7BAAA093A}"/>
              </a:ext>
            </a:extLst>
          </p:cNvPr>
          <p:cNvSpPr txBox="1"/>
          <p:nvPr/>
        </p:nvSpPr>
        <p:spPr>
          <a:xfrm>
            <a:off x="2035277" y="5095764"/>
            <a:ext cx="7993626" cy="1600438"/>
          </a:xfrm>
          <a:prstGeom prst="rect">
            <a:avLst/>
          </a:prstGeom>
          <a:noFill/>
        </p:spPr>
        <p:txBody>
          <a:bodyPr wrap="square" rtlCol="0">
            <a:spAutoFit/>
          </a:bodyPr>
          <a:lstStyle/>
          <a:p>
            <a:r>
              <a:rPr lang="en-IN" sz="1600" dirty="0">
                <a:solidFill>
                  <a:schemeClr val="bg1"/>
                </a:solidFill>
                <a:latin typeface="Calisto MT" panose="02040603050505030304" pitchFamily="18" charset="0"/>
              </a:rPr>
              <a:t>Tag count does not appear to have a meaningful influence on video views. The Pearson correlation coefficient between tag count and view count is 0.006, indicating virtually no linear relationship. Although videos with 21-30 tags recorded the highest average view count (2.56 million), the differences across tag buckets are inconsistent, suggesting that simply adding more tags does not guarantee higher viewership.</a:t>
            </a:r>
          </a:p>
          <a:p>
            <a:pPr algn="ctr"/>
            <a:endParaRPr lang="en-IN" sz="1600" dirty="0">
              <a:solidFill>
                <a:schemeClr val="bg1"/>
              </a:solidFill>
              <a:latin typeface="Calisto MT" panose="02040603050505030304" pitchFamily="18" charset="0"/>
            </a:endParaRPr>
          </a:p>
        </p:txBody>
      </p:sp>
    </p:spTree>
    <p:extLst>
      <p:ext uri="{BB962C8B-B14F-4D97-AF65-F5344CB8AC3E}">
        <p14:creationId xmlns:p14="http://schemas.microsoft.com/office/powerpoint/2010/main" val="196175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0896BD-383A-E0AC-D61F-514A89A58B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E4CC57DB-90D0-B99E-2E6A-344E1B1DD727}"/>
              </a:ext>
            </a:extLst>
          </p:cNvPr>
          <p:cNvSpPr txBox="1"/>
          <p:nvPr/>
        </p:nvSpPr>
        <p:spPr>
          <a:xfrm>
            <a:off x="3768209" y="100281"/>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4</a:t>
            </a:r>
          </a:p>
        </p:txBody>
      </p:sp>
      <p:cxnSp>
        <p:nvCxnSpPr>
          <p:cNvPr id="6" name="Straight Connector 5">
            <a:extLst>
              <a:ext uri="{FF2B5EF4-FFF2-40B4-BE49-F238E27FC236}">
                <a16:creationId xmlns:a16="http://schemas.microsoft.com/office/drawing/2014/main" id="{A06EE546-B8ED-3A23-F2FB-710A4C97D01D}"/>
              </a:ext>
            </a:extLst>
          </p:cNvPr>
          <p:cNvCxnSpPr>
            <a:cxnSpLocks/>
          </p:cNvCxnSpPr>
          <p:nvPr/>
        </p:nvCxnSpPr>
        <p:spPr>
          <a:xfrm>
            <a:off x="3888658" y="688032"/>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7A29A2F6-9CD0-1BD4-9755-20D888043B59}"/>
              </a:ext>
            </a:extLst>
          </p:cNvPr>
          <p:cNvSpPr txBox="1"/>
          <p:nvPr/>
        </p:nvSpPr>
        <p:spPr>
          <a:xfrm>
            <a:off x="2888220" y="814119"/>
            <a:ext cx="6415552" cy="461665"/>
          </a:xfrm>
          <a:prstGeom prst="rect">
            <a:avLst/>
          </a:prstGeom>
          <a:noFill/>
        </p:spPr>
        <p:txBody>
          <a:bodyPr wrap="square" rtlCol="0">
            <a:spAutoFit/>
          </a:bodyPr>
          <a:lstStyle/>
          <a:p>
            <a:pPr algn="ctr"/>
            <a:r>
              <a:rPr lang="en-IN" sz="2400" dirty="0">
                <a:solidFill>
                  <a:schemeClr val="bg1"/>
                </a:solidFill>
                <a:latin typeface="Aparajita" panose="02020603050405020304" pitchFamily="18" charset="0"/>
                <a:cs typeface="Aparajita" panose="02020603050405020304" pitchFamily="18" charset="0"/>
              </a:rPr>
              <a:t>Does video publishing day or time influence the engagement?</a:t>
            </a:r>
          </a:p>
        </p:txBody>
      </p:sp>
      <p:pic>
        <p:nvPicPr>
          <p:cNvPr id="9" name="Picture 8">
            <a:extLst>
              <a:ext uri="{FF2B5EF4-FFF2-40B4-BE49-F238E27FC236}">
                <a16:creationId xmlns:a16="http://schemas.microsoft.com/office/drawing/2014/main" id="{A3D63E97-6F7E-EBC7-6AE7-A93DAFD8BB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3806" y="1401870"/>
            <a:ext cx="5427407" cy="28948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01A9E8B3-6BE8-E35B-F965-A97B5C955E8A}"/>
              </a:ext>
            </a:extLst>
          </p:cNvPr>
          <p:cNvSpPr txBox="1"/>
          <p:nvPr/>
        </p:nvSpPr>
        <p:spPr>
          <a:xfrm>
            <a:off x="3755922" y="4624266"/>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
        <p:nvSpPr>
          <p:cNvPr id="12" name="TextBox 11">
            <a:extLst>
              <a:ext uri="{FF2B5EF4-FFF2-40B4-BE49-F238E27FC236}">
                <a16:creationId xmlns:a16="http://schemas.microsoft.com/office/drawing/2014/main" id="{9427AA03-B065-F1C4-9415-4EE9E069C499}"/>
              </a:ext>
            </a:extLst>
          </p:cNvPr>
          <p:cNvSpPr txBox="1"/>
          <p:nvPr/>
        </p:nvSpPr>
        <p:spPr>
          <a:xfrm>
            <a:off x="2888220" y="5230023"/>
            <a:ext cx="6744929" cy="1107996"/>
          </a:xfrm>
          <a:prstGeom prst="rect">
            <a:avLst/>
          </a:prstGeom>
          <a:noFill/>
        </p:spPr>
        <p:txBody>
          <a:bodyPr wrap="square" rtlCol="0">
            <a:spAutoFit/>
          </a:bodyPr>
          <a:lstStyle/>
          <a:p>
            <a:r>
              <a:rPr lang="en-IN" sz="1600" dirty="0">
                <a:solidFill>
                  <a:schemeClr val="bg1"/>
                </a:solidFill>
                <a:latin typeface="Calisto MT" panose="02040603050505030304" pitchFamily="18" charset="0"/>
              </a:rPr>
              <a:t>Yes , Video Publishing Day Influence video engagement and views Count.</a:t>
            </a:r>
          </a:p>
          <a:p>
            <a:r>
              <a:rPr lang="en-IN" sz="1600" dirty="0">
                <a:solidFill>
                  <a:schemeClr val="bg1"/>
                </a:solidFill>
                <a:latin typeface="Calisto MT" panose="02040603050505030304" pitchFamily="18" charset="0"/>
              </a:rPr>
              <a:t>Videos Published in Wednesday got more views and engagement followed by Saturday and Monday on an average.</a:t>
            </a:r>
          </a:p>
          <a:p>
            <a:endParaRPr lang="en-IN" sz="1600" dirty="0">
              <a:solidFill>
                <a:schemeClr val="bg1"/>
              </a:solidFill>
              <a:latin typeface="Calisto MT" panose="02040603050505030304" pitchFamily="18" charset="0"/>
            </a:endParaRPr>
          </a:p>
        </p:txBody>
      </p:sp>
    </p:spTree>
    <p:extLst>
      <p:ext uri="{BB962C8B-B14F-4D97-AF65-F5344CB8AC3E}">
        <p14:creationId xmlns:p14="http://schemas.microsoft.com/office/powerpoint/2010/main" val="1821531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7304A0-8E14-1D4E-52EF-980CE907A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C5045800-E686-C315-60A9-BD14B153023D}"/>
              </a:ext>
            </a:extLst>
          </p:cNvPr>
          <p:cNvSpPr txBox="1"/>
          <p:nvPr/>
        </p:nvSpPr>
        <p:spPr>
          <a:xfrm>
            <a:off x="3768209" y="100281"/>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5</a:t>
            </a:r>
          </a:p>
        </p:txBody>
      </p:sp>
      <p:cxnSp>
        <p:nvCxnSpPr>
          <p:cNvPr id="6" name="Straight Connector 5">
            <a:extLst>
              <a:ext uri="{FF2B5EF4-FFF2-40B4-BE49-F238E27FC236}">
                <a16:creationId xmlns:a16="http://schemas.microsoft.com/office/drawing/2014/main" id="{5AB4BF27-90EE-2E84-8740-0F67BA1FD980}"/>
              </a:ext>
            </a:extLst>
          </p:cNvPr>
          <p:cNvCxnSpPr>
            <a:cxnSpLocks/>
          </p:cNvCxnSpPr>
          <p:nvPr/>
        </p:nvCxnSpPr>
        <p:spPr>
          <a:xfrm>
            <a:off x="3888658" y="688032"/>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1E118739-2B2A-CD6B-4BF1-63FB59B8EC6B}"/>
              </a:ext>
            </a:extLst>
          </p:cNvPr>
          <p:cNvSpPr txBox="1"/>
          <p:nvPr/>
        </p:nvSpPr>
        <p:spPr>
          <a:xfrm>
            <a:off x="1361761" y="860285"/>
            <a:ext cx="9468469" cy="461665"/>
          </a:xfrm>
          <a:prstGeom prst="rect">
            <a:avLst/>
          </a:prstGeom>
          <a:noFill/>
        </p:spPr>
        <p:txBody>
          <a:bodyPr wrap="square" rtlCol="0">
            <a:spAutoFit/>
          </a:bodyPr>
          <a:lstStyle/>
          <a:p>
            <a:pPr algn="ctr"/>
            <a:r>
              <a:rPr lang="en-IN" sz="2400" dirty="0">
                <a:solidFill>
                  <a:schemeClr val="bg1"/>
                </a:solidFill>
                <a:latin typeface="Aparajita" panose="02020603050405020304" pitchFamily="18" charset="0"/>
                <a:cs typeface="Aparajita" panose="02020603050405020304" pitchFamily="18" charset="0"/>
              </a:rPr>
              <a:t>Are there certain topics or themes that consistently perform better than others?</a:t>
            </a:r>
          </a:p>
        </p:txBody>
      </p:sp>
      <p:sp>
        <p:nvSpPr>
          <p:cNvPr id="10" name="TextBox 9">
            <a:extLst>
              <a:ext uri="{FF2B5EF4-FFF2-40B4-BE49-F238E27FC236}">
                <a16:creationId xmlns:a16="http://schemas.microsoft.com/office/drawing/2014/main" id="{F6229177-8663-8C7F-C8DF-515AD428396C}"/>
              </a:ext>
            </a:extLst>
          </p:cNvPr>
          <p:cNvSpPr txBox="1"/>
          <p:nvPr/>
        </p:nvSpPr>
        <p:spPr>
          <a:xfrm>
            <a:off x="835741" y="5112323"/>
            <a:ext cx="11100619" cy="1600438"/>
          </a:xfrm>
          <a:prstGeom prst="rect">
            <a:avLst/>
          </a:prstGeom>
          <a:noFill/>
        </p:spPr>
        <p:txBody>
          <a:bodyPr wrap="square" rtlCol="0">
            <a:spAutoFit/>
          </a:bodyPr>
          <a:lstStyle/>
          <a:p>
            <a:r>
              <a:rPr lang="en-IN" sz="1600" dirty="0">
                <a:solidFill>
                  <a:schemeClr val="bg1"/>
                </a:solidFill>
                <a:latin typeface="Calisto MT" panose="02040603050505030304" pitchFamily="18" charset="0"/>
              </a:rPr>
              <a:t>The analysis shows that video performance varies considerably across content themes. Song videos are the highest-performing category, followed by Teasers, both generating substantially higher average views, likes, and comments than most other themes. In contrast, categories such as Drama and Behind the Scenes attract comparatively lower audience engagement. These findings suggest that content theme is an important factor influencing video performance, with promotional and music-related content consistently outperforming many other formats on the Netflix India YouTube channel.</a:t>
            </a:r>
          </a:p>
          <a:p>
            <a:endParaRPr lang="en-IN" sz="1600" dirty="0">
              <a:solidFill>
                <a:schemeClr val="bg1"/>
              </a:solidFill>
              <a:latin typeface="Calisto MT" panose="02040603050505030304" pitchFamily="18" charset="0"/>
            </a:endParaRPr>
          </a:p>
        </p:txBody>
      </p:sp>
      <p:sp>
        <p:nvSpPr>
          <p:cNvPr id="12" name="TextBox 11">
            <a:extLst>
              <a:ext uri="{FF2B5EF4-FFF2-40B4-BE49-F238E27FC236}">
                <a16:creationId xmlns:a16="http://schemas.microsoft.com/office/drawing/2014/main" id="{935D0EA8-0DDF-673D-15BC-92B2414A4EF3}"/>
              </a:ext>
            </a:extLst>
          </p:cNvPr>
          <p:cNvSpPr txBox="1"/>
          <p:nvPr/>
        </p:nvSpPr>
        <p:spPr>
          <a:xfrm>
            <a:off x="3755922" y="4624266"/>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pic>
        <p:nvPicPr>
          <p:cNvPr id="14" name="Picture 13">
            <a:extLst>
              <a:ext uri="{FF2B5EF4-FFF2-40B4-BE49-F238E27FC236}">
                <a16:creationId xmlns:a16="http://schemas.microsoft.com/office/drawing/2014/main" id="{6054FEC0-D32C-D4C1-E42E-A92047FE0F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4642" y="1348342"/>
            <a:ext cx="5842705" cy="30650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81808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CEB233-E617-2023-DB80-277F5063D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84F34B9F-32C7-58E6-72CA-D72DADCC665C}"/>
              </a:ext>
            </a:extLst>
          </p:cNvPr>
          <p:cNvSpPr txBox="1"/>
          <p:nvPr/>
        </p:nvSpPr>
        <p:spPr>
          <a:xfrm>
            <a:off x="3628276" y="121634"/>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6</a:t>
            </a:r>
          </a:p>
        </p:txBody>
      </p:sp>
      <p:cxnSp>
        <p:nvCxnSpPr>
          <p:cNvPr id="6" name="Straight Connector 5">
            <a:extLst>
              <a:ext uri="{FF2B5EF4-FFF2-40B4-BE49-F238E27FC236}">
                <a16:creationId xmlns:a16="http://schemas.microsoft.com/office/drawing/2014/main" id="{0C86B9B2-39D5-86AA-9C90-015A677E48F1}"/>
              </a:ext>
            </a:extLst>
          </p:cNvPr>
          <p:cNvCxnSpPr>
            <a:cxnSpLocks/>
          </p:cNvCxnSpPr>
          <p:nvPr/>
        </p:nvCxnSpPr>
        <p:spPr>
          <a:xfrm>
            <a:off x="3730587" y="678200"/>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2130F613-EEC5-219B-BE2D-CAAEC44AE2B0}"/>
              </a:ext>
            </a:extLst>
          </p:cNvPr>
          <p:cNvSpPr txBox="1"/>
          <p:nvPr/>
        </p:nvSpPr>
        <p:spPr>
          <a:xfrm>
            <a:off x="2949673" y="840588"/>
            <a:ext cx="6292645" cy="461665"/>
          </a:xfrm>
          <a:prstGeom prst="rect">
            <a:avLst/>
          </a:prstGeom>
          <a:noFill/>
        </p:spPr>
        <p:txBody>
          <a:bodyPr wrap="square" rtlCol="0">
            <a:spAutoFit/>
          </a:bodyPr>
          <a:lstStyle/>
          <a:p>
            <a:r>
              <a:rPr lang="en-IN" sz="2400" dirty="0">
                <a:solidFill>
                  <a:schemeClr val="bg1"/>
                </a:solidFill>
                <a:latin typeface="Aparajita" panose="02020603050405020304" pitchFamily="18" charset="0"/>
                <a:cs typeface="Aparajita" panose="02020603050405020304" pitchFamily="18" charset="0"/>
              </a:rPr>
              <a:t>Are there any videos that have no tags, but performed well? </a:t>
            </a:r>
          </a:p>
        </p:txBody>
      </p:sp>
      <p:sp>
        <p:nvSpPr>
          <p:cNvPr id="8" name="TextBox 7">
            <a:extLst>
              <a:ext uri="{FF2B5EF4-FFF2-40B4-BE49-F238E27FC236}">
                <a16:creationId xmlns:a16="http://schemas.microsoft.com/office/drawing/2014/main" id="{3FCF9AD8-E7C9-77EC-267E-3719C2008021}"/>
              </a:ext>
            </a:extLst>
          </p:cNvPr>
          <p:cNvSpPr txBox="1"/>
          <p:nvPr/>
        </p:nvSpPr>
        <p:spPr>
          <a:xfrm>
            <a:off x="1622302" y="1831711"/>
            <a:ext cx="3893574" cy="369332"/>
          </a:xfrm>
          <a:prstGeom prst="rect">
            <a:avLst/>
          </a:prstGeom>
          <a:noFill/>
        </p:spPr>
        <p:txBody>
          <a:bodyPr wrap="square" rtlCol="0">
            <a:spAutoFit/>
          </a:bodyPr>
          <a:lstStyle/>
          <a:p>
            <a:r>
              <a:rPr lang="en-IN" b="1" dirty="0">
                <a:solidFill>
                  <a:schemeClr val="bg1"/>
                </a:solidFill>
                <a:latin typeface="Aparajita" panose="02020603050405020304" pitchFamily="18" charset="0"/>
                <a:cs typeface="Aparajita" panose="02020603050405020304" pitchFamily="18" charset="0"/>
                <a:hlinkClick r:id="rId3"/>
              </a:rPr>
              <a:t>Ghoul: The Room | Official [VR] | Netflix</a:t>
            </a:r>
            <a:endParaRPr lang="en-IN" sz="2000" dirty="0">
              <a:solidFill>
                <a:schemeClr val="bg1"/>
              </a:solidFill>
              <a:latin typeface="Aparajita" panose="02020603050405020304" pitchFamily="18" charset="0"/>
              <a:cs typeface="Aparajita" panose="02020603050405020304" pitchFamily="18" charset="0"/>
            </a:endParaRPr>
          </a:p>
        </p:txBody>
      </p:sp>
      <p:sp>
        <p:nvSpPr>
          <p:cNvPr id="9" name="TextBox 8">
            <a:extLst>
              <a:ext uri="{FF2B5EF4-FFF2-40B4-BE49-F238E27FC236}">
                <a16:creationId xmlns:a16="http://schemas.microsoft.com/office/drawing/2014/main" id="{945008FC-7AE4-0685-5EF3-307053BCD394}"/>
              </a:ext>
            </a:extLst>
          </p:cNvPr>
          <p:cNvSpPr txBox="1"/>
          <p:nvPr/>
        </p:nvSpPr>
        <p:spPr>
          <a:xfrm>
            <a:off x="6899226" y="1845436"/>
            <a:ext cx="3362632" cy="369332"/>
          </a:xfrm>
          <a:prstGeom prst="rect">
            <a:avLst/>
          </a:prstGeom>
          <a:noFill/>
        </p:spPr>
        <p:txBody>
          <a:bodyPr wrap="square" rtlCol="0">
            <a:spAutoFit/>
          </a:bodyPr>
          <a:lstStyle/>
          <a:p>
            <a:r>
              <a:rPr lang="en-IN" b="1" dirty="0">
                <a:solidFill>
                  <a:schemeClr val="bg1"/>
                </a:solidFill>
                <a:latin typeface="Aparajita" panose="02020603050405020304" pitchFamily="18" charset="0"/>
                <a:cs typeface="Aparajita" panose="02020603050405020304" pitchFamily="18" charset="0"/>
                <a:hlinkClick r:id="rId4"/>
              </a:rPr>
              <a:t>Ghoul - Silent Trailer I Netflix I HD</a:t>
            </a:r>
            <a:endParaRPr lang="en-IN" sz="2000" dirty="0">
              <a:solidFill>
                <a:schemeClr val="bg1"/>
              </a:solidFill>
              <a:latin typeface="Aparajita" panose="02020603050405020304" pitchFamily="18" charset="0"/>
              <a:cs typeface="Aparajita" panose="02020603050405020304" pitchFamily="18" charset="0"/>
            </a:endParaRPr>
          </a:p>
        </p:txBody>
      </p:sp>
      <p:sp>
        <p:nvSpPr>
          <p:cNvPr id="10" name="TextBox 9">
            <a:hlinkClick r:id="rId5"/>
            <a:extLst>
              <a:ext uri="{FF2B5EF4-FFF2-40B4-BE49-F238E27FC236}">
                <a16:creationId xmlns:a16="http://schemas.microsoft.com/office/drawing/2014/main" id="{BE918C99-FD80-349A-2F67-4B3EFF1226A7}"/>
              </a:ext>
            </a:extLst>
          </p:cNvPr>
          <p:cNvSpPr txBox="1"/>
          <p:nvPr/>
        </p:nvSpPr>
        <p:spPr>
          <a:xfrm>
            <a:off x="4407091" y="4370347"/>
            <a:ext cx="3234813" cy="400110"/>
          </a:xfrm>
          <a:prstGeom prst="rect">
            <a:avLst/>
          </a:prstGeom>
          <a:noFill/>
        </p:spPr>
        <p:txBody>
          <a:bodyPr wrap="square" rtlCol="0">
            <a:spAutoFit/>
          </a:bodyPr>
          <a:lstStyle/>
          <a:p>
            <a:pPr algn="ctr"/>
            <a:r>
              <a:rPr lang="en-IN" sz="2000" dirty="0">
                <a:solidFill>
                  <a:schemeClr val="bg1"/>
                </a:solidFill>
                <a:latin typeface="Aparajita" panose="02020603050405020304" pitchFamily="18" charset="0"/>
                <a:cs typeface="Aparajita" panose="02020603050405020304" pitchFamily="18" charset="0"/>
                <a:hlinkClick r:id="rId5"/>
              </a:rPr>
              <a:t>Heating Up | Netflix</a:t>
            </a:r>
            <a:endParaRPr lang="en-IN" sz="2000" dirty="0">
              <a:solidFill>
                <a:schemeClr val="bg1"/>
              </a:solidFill>
              <a:latin typeface="Aparajita" panose="02020603050405020304" pitchFamily="18" charset="0"/>
              <a:cs typeface="Aparajita" panose="02020603050405020304" pitchFamily="18" charset="0"/>
            </a:endParaRPr>
          </a:p>
        </p:txBody>
      </p:sp>
      <p:grpSp>
        <p:nvGrpSpPr>
          <p:cNvPr id="33" name="Group 32">
            <a:extLst>
              <a:ext uri="{FF2B5EF4-FFF2-40B4-BE49-F238E27FC236}">
                <a16:creationId xmlns:a16="http://schemas.microsoft.com/office/drawing/2014/main" id="{4C4241E5-F3D0-5E9B-F645-A2A6B1B8DA19}"/>
              </a:ext>
            </a:extLst>
          </p:cNvPr>
          <p:cNvGrpSpPr/>
          <p:nvPr/>
        </p:nvGrpSpPr>
        <p:grpSpPr>
          <a:xfrm>
            <a:off x="2428916" y="3058632"/>
            <a:ext cx="1649172" cy="993878"/>
            <a:chOff x="1809500" y="3058632"/>
            <a:chExt cx="1649172" cy="993878"/>
          </a:xfrm>
        </p:grpSpPr>
        <p:sp>
          <p:nvSpPr>
            <p:cNvPr id="29" name="Oval 28">
              <a:extLst>
                <a:ext uri="{FF2B5EF4-FFF2-40B4-BE49-F238E27FC236}">
                  <a16:creationId xmlns:a16="http://schemas.microsoft.com/office/drawing/2014/main" id="{6D7755E9-B624-0204-2F17-A231709AEA98}"/>
                </a:ext>
              </a:extLst>
            </p:cNvPr>
            <p:cNvSpPr/>
            <p:nvPr/>
          </p:nvSpPr>
          <p:spPr>
            <a:xfrm>
              <a:off x="1809500" y="3058632"/>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7E52E920-F2B8-ECEE-F994-E9C7C5BB660E}"/>
                </a:ext>
              </a:extLst>
            </p:cNvPr>
            <p:cNvSpPr txBox="1"/>
            <p:nvPr/>
          </p:nvSpPr>
          <p:spPr>
            <a:xfrm>
              <a:off x="2029469" y="3375274"/>
              <a:ext cx="1282741" cy="400110"/>
            </a:xfrm>
            <a:prstGeom prst="rect">
              <a:avLst/>
            </a:prstGeom>
            <a:noFill/>
          </p:spPr>
          <p:txBody>
            <a:bodyPr wrap="square" rtlCol="0">
              <a:spAutoFit/>
            </a:bodyPr>
            <a:lstStyle/>
            <a:p>
              <a:r>
                <a:rPr lang="en-IN" sz="2000" dirty="0">
                  <a:solidFill>
                    <a:schemeClr val="bg1"/>
                  </a:solidFill>
                  <a:latin typeface="Aparajita" panose="02020603050405020304" pitchFamily="18" charset="0"/>
                  <a:cs typeface="Aparajita" panose="02020603050405020304" pitchFamily="18" charset="0"/>
                </a:rPr>
                <a:t>41.1K Likes</a:t>
              </a:r>
            </a:p>
          </p:txBody>
        </p:sp>
      </p:grpSp>
      <p:grpSp>
        <p:nvGrpSpPr>
          <p:cNvPr id="32" name="Group 31">
            <a:extLst>
              <a:ext uri="{FF2B5EF4-FFF2-40B4-BE49-F238E27FC236}">
                <a16:creationId xmlns:a16="http://schemas.microsoft.com/office/drawing/2014/main" id="{8530E94F-8D55-5E54-1E06-FF9D54E6446D}"/>
              </a:ext>
            </a:extLst>
          </p:cNvPr>
          <p:cNvGrpSpPr/>
          <p:nvPr/>
        </p:nvGrpSpPr>
        <p:grpSpPr>
          <a:xfrm>
            <a:off x="527943" y="3113578"/>
            <a:ext cx="1723992" cy="981331"/>
            <a:chOff x="45722" y="3124468"/>
            <a:chExt cx="1649172" cy="993878"/>
          </a:xfrm>
        </p:grpSpPr>
        <p:sp>
          <p:nvSpPr>
            <p:cNvPr id="19" name="Oval 18">
              <a:extLst>
                <a:ext uri="{FF2B5EF4-FFF2-40B4-BE49-F238E27FC236}">
                  <a16:creationId xmlns:a16="http://schemas.microsoft.com/office/drawing/2014/main" id="{CC4F66A2-8915-157D-C342-A48A9AAA0CFC}"/>
                </a:ext>
              </a:extLst>
            </p:cNvPr>
            <p:cNvSpPr/>
            <p:nvPr/>
          </p:nvSpPr>
          <p:spPr>
            <a:xfrm>
              <a:off x="45722" y="3124468"/>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TextBox 13">
              <a:extLst>
                <a:ext uri="{FF2B5EF4-FFF2-40B4-BE49-F238E27FC236}">
                  <a16:creationId xmlns:a16="http://schemas.microsoft.com/office/drawing/2014/main" id="{AE895D99-13B3-6BA7-53ED-B32EECC47A24}"/>
                </a:ext>
              </a:extLst>
            </p:cNvPr>
            <p:cNvSpPr txBox="1"/>
            <p:nvPr/>
          </p:nvSpPr>
          <p:spPr>
            <a:xfrm>
              <a:off x="228938" y="3441219"/>
              <a:ext cx="1282741" cy="400110"/>
            </a:xfrm>
            <a:prstGeom prst="rect">
              <a:avLst/>
            </a:prstGeom>
            <a:noFill/>
          </p:spPr>
          <p:txBody>
            <a:bodyPr wrap="square" rtlCol="0">
              <a:spAutoFit/>
            </a:bodyPr>
            <a:lstStyle/>
            <a:p>
              <a:r>
                <a:rPr lang="en-IN" sz="2000" dirty="0">
                  <a:solidFill>
                    <a:schemeClr val="bg1"/>
                  </a:solidFill>
                  <a:latin typeface="Aparajita" panose="02020603050405020304" pitchFamily="18" charset="0"/>
                  <a:cs typeface="Aparajita" panose="02020603050405020304" pitchFamily="18" charset="0"/>
                </a:rPr>
                <a:t>1.8Cr Views</a:t>
              </a:r>
            </a:p>
          </p:txBody>
        </p:sp>
      </p:grpSp>
      <p:sp>
        <p:nvSpPr>
          <p:cNvPr id="31" name="Oval 30">
            <a:extLst>
              <a:ext uri="{FF2B5EF4-FFF2-40B4-BE49-F238E27FC236}">
                <a16:creationId xmlns:a16="http://schemas.microsoft.com/office/drawing/2014/main" id="{2C7476C5-1365-8725-B693-77FB8CD8DB93}"/>
              </a:ext>
            </a:extLst>
          </p:cNvPr>
          <p:cNvSpPr/>
          <p:nvPr/>
        </p:nvSpPr>
        <p:spPr>
          <a:xfrm>
            <a:off x="4255069" y="3098149"/>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AA5B89A2-1B23-2615-F779-C9BC6AA6F27F}"/>
              </a:ext>
            </a:extLst>
          </p:cNvPr>
          <p:cNvSpPr txBox="1"/>
          <p:nvPr/>
        </p:nvSpPr>
        <p:spPr>
          <a:xfrm>
            <a:off x="4255069" y="3355516"/>
            <a:ext cx="1649173" cy="400110"/>
          </a:xfrm>
          <a:prstGeom prst="rect">
            <a:avLst/>
          </a:prstGeom>
          <a:noFill/>
        </p:spPr>
        <p:txBody>
          <a:bodyPr wrap="square" rtlCol="0">
            <a:spAutoFit/>
          </a:bodyPr>
          <a:lstStyle/>
          <a:p>
            <a:r>
              <a:rPr lang="en-IN" sz="2000" dirty="0">
                <a:solidFill>
                  <a:schemeClr val="bg1"/>
                </a:solidFill>
                <a:latin typeface="Aparajita" panose="02020603050405020304" pitchFamily="18" charset="0"/>
                <a:cs typeface="Aparajita" panose="02020603050405020304" pitchFamily="18" charset="0"/>
              </a:rPr>
              <a:t>1.8K Comments</a:t>
            </a:r>
          </a:p>
        </p:txBody>
      </p:sp>
      <p:cxnSp>
        <p:nvCxnSpPr>
          <p:cNvPr id="35" name="Straight Connector 34">
            <a:extLst>
              <a:ext uri="{FF2B5EF4-FFF2-40B4-BE49-F238E27FC236}">
                <a16:creationId xmlns:a16="http://schemas.microsoft.com/office/drawing/2014/main" id="{E76306D8-E638-3FAD-7379-7A5173E2A63E}"/>
              </a:ext>
            </a:extLst>
          </p:cNvPr>
          <p:cNvCxnSpPr>
            <a:cxnSpLocks/>
          </p:cNvCxnSpPr>
          <p:nvPr/>
        </p:nvCxnSpPr>
        <p:spPr>
          <a:xfrm flipV="1">
            <a:off x="1452373" y="2202620"/>
            <a:ext cx="2122080" cy="8955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5523B3-0D82-0B1B-9881-97C94E52AEE1}"/>
              </a:ext>
            </a:extLst>
          </p:cNvPr>
          <p:cNvCxnSpPr>
            <a:stCxn id="29" idx="0"/>
            <a:endCxn id="8" idx="2"/>
          </p:cNvCxnSpPr>
          <p:nvPr/>
        </p:nvCxnSpPr>
        <p:spPr>
          <a:xfrm flipV="1">
            <a:off x="3253502" y="2201043"/>
            <a:ext cx="315587" cy="857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D31CE81-C9DA-BAE7-6245-E8C4958528AF}"/>
              </a:ext>
            </a:extLst>
          </p:cNvPr>
          <p:cNvCxnSpPr>
            <a:cxnSpLocks/>
            <a:stCxn id="8" idx="2"/>
            <a:endCxn id="31" idx="0"/>
          </p:cNvCxnSpPr>
          <p:nvPr/>
        </p:nvCxnSpPr>
        <p:spPr>
          <a:xfrm>
            <a:off x="3569089" y="2201043"/>
            <a:ext cx="1510566" cy="8971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A5863D9-64C1-EA11-A9F5-D9A77BE1E3D2}"/>
              </a:ext>
            </a:extLst>
          </p:cNvPr>
          <p:cNvCxnSpPr>
            <a:cxnSpLocks/>
          </p:cNvCxnSpPr>
          <p:nvPr/>
        </p:nvCxnSpPr>
        <p:spPr>
          <a:xfrm>
            <a:off x="5937929" y="1911742"/>
            <a:ext cx="3117" cy="2272767"/>
          </a:xfrm>
          <a:prstGeom prst="line">
            <a:avLst/>
          </a:prstGeom>
        </p:spPr>
        <p:style>
          <a:lnRef idx="1">
            <a:schemeClr val="accent2"/>
          </a:lnRef>
          <a:fillRef idx="0">
            <a:schemeClr val="accent2"/>
          </a:fillRef>
          <a:effectRef idx="0">
            <a:schemeClr val="accent2"/>
          </a:effectRef>
          <a:fontRef idx="minor">
            <a:schemeClr val="tx1"/>
          </a:fontRef>
        </p:style>
      </p:cxnSp>
      <p:sp>
        <p:nvSpPr>
          <p:cNvPr id="55" name="Oval 54">
            <a:extLst>
              <a:ext uri="{FF2B5EF4-FFF2-40B4-BE49-F238E27FC236}">
                <a16:creationId xmlns:a16="http://schemas.microsoft.com/office/drawing/2014/main" id="{256E2B21-2205-7CB7-B93D-245A7B1FEE3D}"/>
              </a:ext>
            </a:extLst>
          </p:cNvPr>
          <p:cNvSpPr/>
          <p:nvPr/>
        </p:nvSpPr>
        <p:spPr>
          <a:xfrm>
            <a:off x="6634459" y="5454332"/>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7" name="Oval 56">
            <a:extLst>
              <a:ext uri="{FF2B5EF4-FFF2-40B4-BE49-F238E27FC236}">
                <a16:creationId xmlns:a16="http://schemas.microsoft.com/office/drawing/2014/main" id="{73E75BE6-C2EB-3F32-5C70-C9EE8B64178A}"/>
              </a:ext>
            </a:extLst>
          </p:cNvPr>
          <p:cNvSpPr/>
          <p:nvPr/>
        </p:nvSpPr>
        <p:spPr>
          <a:xfrm>
            <a:off x="4926308" y="5454332"/>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Oval 62">
            <a:extLst>
              <a:ext uri="{FF2B5EF4-FFF2-40B4-BE49-F238E27FC236}">
                <a16:creationId xmlns:a16="http://schemas.microsoft.com/office/drawing/2014/main" id="{2E8EF868-D802-E30A-93E0-DD0B8DD9FE47}"/>
              </a:ext>
            </a:extLst>
          </p:cNvPr>
          <p:cNvSpPr/>
          <p:nvPr/>
        </p:nvSpPr>
        <p:spPr>
          <a:xfrm>
            <a:off x="3230245" y="5457087"/>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67" name="Group 66">
            <a:extLst>
              <a:ext uri="{FF2B5EF4-FFF2-40B4-BE49-F238E27FC236}">
                <a16:creationId xmlns:a16="http://schemas.microsoft.com/office/drawing/2014/main" id="{EC33EA16-368A-DEE4-2C70-DC1831C63F7E}"/>
              </a:ext>
            </a:extLst>
          </p:cNvPr>
          <p:cNvGrpSpPr/>
          <p:nvPr/>
        </p:nvGrpSpPr>
        <p:grpSpPr>
          <a:xfrm>
            <a:off x="5992732" y="3098149"/>
            <a:ext cx="1649172" cy="993878"/>
            <a:chOff x="5373316" y="3098149"/>
            <a:chExt cx="1649172" cy="993878"/>
          </a:xfrm>
        </p:grpSpPr>
        <p:sp>
          <p:nvSpPr>
            <p:cNvPr id="46" name="Oval 45">
              <a:extLst>
                <a:ext uri="{FF2B5EF4-FFF2-40B4-BE49-F238E27FC236}">
                  <a16:creationId xmlns:a16="http://schemas.microsoft.com/office/drawing/2014/main" id="{D1C2B1D6-920B-3D7F-D51D-8121A32FC9CF}"/>
                </a:ext>
              </a:extLst>
            </p:cNvPr>
            <p:cNvSpPr/>
            <p:nvPr/>
          </p:nvSpPr>
          <p:spPr>
            <a:xfrm>
              <a:off x="5373316" y="3098149"/>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6" name="TextBox 65">
              <a:extLst>
                <a:ext uri="{FF2B5EF4-FFF2-40B4-BE49-F238E27FC236}">
                  <a16:creationId xmlns:a16="http://schemas.microsoft.com/office/drawing/2014/main" id="{8B64568A-E232-1160-385D-78A3D955B4E1}"/>
                </a:ext>
              </a:extLst>
            </p:cNvPr>
            <p:cNvSpPr txBox="1"/>
            <p:nvPr/>
          </p:nvSpPr>
          <p:spPr>
            <a:xfrm>
              <a:off x="5588303" y="3404977"/>
              <a:ext cx="1219197" cy="369332"/>
            </a:xfrm>
            <a:prstGeom prst="rect">
              <a:avLst/>
            </a:prstGeom>
            <a:noFill/>
          </p:spPr>
          <p:txBody>
            <a:bodyPr wrap="square" rtlCol="0">
              <a:spAutoFit/>
            </a:bodyPr>
            <a:lstStyle/>
            <a:p>
              <a:r>
                <a:rPr lang="en-IN" dirty="0">
                  <a:solidFill>
                    <a:schemeClr val="bg1"/>
                  </a:solidFill>
                  <a:latin typeface="Aparajita" panose="02020603050405020304" pitchFamily="18" charset="0"/>
                  <a:cs typeface="Aparajita" panose="02020603050405020304" pitchFamily="18" charset="0"/>
                </a:rPr>
                <a:t>1.8 Cr Views</a:t>
              </a:r>
            </a:p>
          </p:txBody>
        </p:sp>
      </p:grpSp>
      <p:grpSp>
        <p:nvGrpSpPr>
          <p:cNvPr id="72" name="Group 71">
            <a:extLst>
              <a:ext uri="{FF2B5EF4-FFF2-40B4-BE49-F238E27FC236}">
                <a16:creationId xmlns:a16="http://schemas.microsoft.com/office/drawing/2014/main" id="{5C0EA1E0-1D74-1628-14BA-96A5194B96E2}"/>
              </a:ext>
            </a:extLst>
          </p:cNvPr>
          <p:cNvGrpSpPr/>
          <p:nvPr/>
        </p:nvGrpSpPr>
        <p:grpSpPr>
          <a:xfrm>
            <a:off x="7712397" y="3092704"/>
            <a:ext cx="1649172" cy="993878"/>
            <a:chOff x="7092981" y="3092704"/>
            <a:chExt cx="1649172" cy="993878"/>
          </a:xfrm>
        </p:grpSpPr>
        <p:sp>
          <p:nvSpPr>
            <p:cNvPr id="61" name="Oval 60">
              <a:extLst>
                <a:ext uri="{FF2B5EF4-FFF2-40B4-BE49-F238E27FC236}">
                  <a16:creationId xmlns:a16="http://schemas.microsoft.com/office/drawing/2014/main" id="{2DE7C462-4403-F47D-480F-B13A6438C63F}"/>
                </a:ext>
              </a:extLst>
            </p:cNvPr>
            <p:cNvSpPr/>
            <p:nvPr/>
          </p:nvSpPr>
          <p:spPr>
            <a:xfrm>
              <a:off x="7092981" y="3092704"/>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Box 68">
              <a:extLst>
                <a:ext uri="{FF2B5EF4-FFF2-40B4-BE49-F238E27FC236}">
                  <a16:creationId xmlns:a16="http://schemas.microsoft.com/office/drawing/2014/main" id="{AFC4836A-BC16-234D-AB90-696ACE1BC354}"/>
                </a:ext>
              </a:extLst>
            </p:cNvPr>
            <p:cNvSpPr txBox="1"/>
            <p:nvPr/>
          </p:nvSpPr>
          <p:spPr>
            <a:xfrm>
              <a:off x="7291997" y="3401064"/>
              <a:ext cx="1219197" cy="369332"/>
            </a:xfrm>
            <a:prstGeom prst="rect">
              <a:avLst/>
            </a:prstGeom>
            <a:noFill/>
          </p:spPr>
          <p:txBody>
            <a:bodyPr wrap="square" rtlCol="0">
              <a:spAutoFit/>
            </a:bodyPr>
            <a:lstStyle/>
            <a:p>
              <a:r>
                <a:rPr lang="en-IN" dirty="0">
                  <a:solidFill>
                    <a:schemeClr val="bg1"/>
                  </a:solidFill>
                  <a:latin typeface="Aparajita" panose="02020603050405020304" pitchFamily="18" charset="0"/>
                  <a:cs typeface="Aparajita" panose="02020603050405020304" pitchFamily="18" charset="0"/>
                </a:rPr>
                <a:t>40.1K Likes</a:t>
              </a:r>
            </a:p>
          </p:txBody>
        </p:sp>
      </p:grpSp>
      <p:grpSp>
        <p:nvGrpSpPr>
          <p:cNvPr id="73" name="Group 72">
            <a:extLst>
              <a:ext uri="{FF2B5EF4-FFF2-40B4-BE49-F238E27FC236}">
                <a16:creationId xmlns:a16="http://schemas.microsoft.com/office/drawing/2014/main" id="{AD6AFD7B-DEBD-8F07-D4D3-032F5251D1C8}"/>
              </a:ext>
            </a:extLst>
          </p:cNvPr>
          <p:cNvGrpSpPr/>
          <p:nvPr/>
        </p:nvGrpSpPr>
        <p:grpSpPr>
          <a:xfrm>
            <a:off x="9383560" y="3113578"/>
            <a:ext cx="1649172" cy="993878"/>
            <a:chOff x="8764144" y="3113578"/>
            <a:chExt cx="1649172" cy="993878"/>
          </a:xfrm>
        </p:grpSpPr>
        <p:sp>
          <p:nvSpPr>
            <p:cNvPr id="59" name="Oval 58">
              <a:extLst>
                <a:ext uri="{FF2B5EF4-FFF2-40B4-BE49-F238E27FC236}">
                  <a16:creationId xmlns:a16="http://schemas.microsoft.com/office/drawing/2014/main" id="{FDF9193B-8040-7BB3-5565-A70F8C2FFB57}"/>
                </a:ext>
              </a:extLst>
            </p:cNvPr>
            <p:cNvSpPr/>
            <p:nvPr/>
          </p:nvSpPr>
          <p:spPr>
            <a:xfrm>
              <a:off x="8764144" y="3113578"/>
              <a:ext cx="1649172" cy="993878"/>
            </a:xfrm>
            <a:prstGeom prst="ellipse">
              <a:avLst/>
            </a:prstGeom>
            <a:solidFill>
              <a:srgbClr val="E50914"/>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1" name="TextBox 70">
              <a:extLst>
                <a:ext uri="{FF2B5EF4-FFF2-40B4-BE49-F238E27FC236}">
                  <a16:creationId xmlns:a16="http://schemas.microsoft.com/office/drawing/2014/main" id="{59489093-9B4F-8CD5-8E91-162929EF1E51}"/>
                </a:ext>
              </a:extLst>
            </p:cNvPr>
            <p:cNvSpPr txBox="1"/>
            <p:nvPr/>
          </p:nvSpPr>
          <p:spPr>
            <a:xfrm>
              <a:off x="8914354" y="3406631"/>
              <a:ext cx="1456176" cy="369332"/>
            </a:xfrm>
            <a:prstGeom prst="rect">
              <a:avLst/>
            </a:prstGeom>
            <a:noFill/>
          </p:spPr>
          <p:txBody>
            <a:bodyPr wrap="square" rtlCol="0">
              <a:spAutoFit/>
            </a:bodyPr>
            <a:lstStyle/>
            <a:p>
              <a:r>
                <a:rPr lang="en-IN" dirty="0">
                  <a:solidFill>
                    <a:schemeClr val="bg1"/>
                  </a:solidFill>
                  <a:latin typeface="Aparajita" panose="02020603050405020304" pitchFamily="18" charset="0"/>
                  <a:cs typeface="Aparajita" panose="02020603050405020304" pitchFamily="18" charset="0"/>
                </a:rPr>
                <a:t>2.3K Comments</a:t>
              </a:r>
            </a:p>
          </p:txBody>
        </p:sp>
      </p:grpSp>
      <p:cxnSp>
        <p:nvCxnSpPr>
          <p:cNvPr id="76" name="Straight Connector 75">
            <a:extLst>
              <a:ext uri="{FF2B5EF4-FFF2-40B4-BE49-F238E27FC236}">
                <a16:creationId xmlns:a16="http://schemas.microsoft.com/office/drawing/2014/main" id="{3D7A17C6-B1E3-1E7D-0E20-FF03CC2B2401}"/>
              </a:ext>
            </a:extLst>
          </p:cNvPr>
          <p:cNvCxnSpPr>
            <a:stCxn id="46" idx="0"/>
            <a:endCxn id="9" idx="2"/>
          </p:cNvCxnSpPr>
          <p:nvPr/>
        </p:nvCxnSpPr>
        <p:spPr>
          <a:xfrm flipV="1">
            <a:off x="6817318" y="2214768"/>
            <a:ext cx="1763224" cy="8833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CD15FAB-9A12-AF7A-ECA9-8DD06FE54699}"/>
              </a:ext>
            </a:extLst>
          </p:cNvPr>
          <p:cNvCxnSpPr>
            <a:stCxn id="61" idx="0"/>
            <a:endCxn id="9" idx="2"/>
          </p:cNvCxnSpPr>
          <p:nvPr/>
        </p:nvCxnSpPr>
        <p:spPr>
          <a:xfrm flipV="1">
            <a:off x="8536983" y="2214768"/>
            <a:ext cx="43559" cy="87793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273BB4A-F9B5-E286-E4A7-0249C1BC54B8}"/>
              </a:ext>
            </a:extLst>
          </p:cNvPr>
          <p:cNvCxnSpPr>
            <a:stCxn id="59" idx="0"/>
            <a:endCxn id="9" idx="2"/>
          </p:cNvCxnSpPr>
          <p:nvPr/>
        </p:nvCxnSpPr>
        <p:spPr>
          <a:xfrm flipH="1" flipV="1">
            <a:off x="8580542" y="2214768"/>
            <a:ext cx="1627604" cy="8988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A208A08-A072-BAC3-47A0-69E55766359F}"/>
              </a:ext>
            </a:extLst>
          </p:cNvPr>
          <p:cNvCxnSpPr>
            <a:stCxn id="63" idx="0"/>
            <a:endCxn id="10" idx="2"/>
          </p:cNvCxnSpPr>
          <p:nvPr/>
        </p:nvCxnSpPr>
        <p:spPr>
          <a:xfrm flipV="1">
            <a:off x="4054831" y="4770457"/>
            <a:ext cx="1969667" cy="686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164E392-70D9-278E-039A-C1E3E0F36B35}"/>
              </a:ext>
            </a:extLst>
          </p:cNvPr>
          <p:cNvCxnSpPr>
            <a:cxnSpLocks/>
            <a:stCxn id="55" idx="0"/>
            <a:endCxn id="10" idx="2"/>
          </p:cNvCxnSpPr>
          <p:nvPr/>
        </p:nvCxnSpPr>
        <p:spPr>
          <a:xfrm flipH="1" flipV="1">
            <a:off x="6024498" y="4770457"/>
            <a:ext cx="1434547" cy="683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8AC7C31-7786-49EF-59B6-3F386E294036}"/>
              </a:ext>
            </a:extLst>
          </p:cNvPr>
          <p:cNvCxnSpPr>
            <a:stCxn id="57" idx="0"/>
            <a:endCxn id="10" idx="2"/>
          </p:cNvCxnSpPr>
          <p:nvPr/>
        </p:nvCxnSpPr>
        <p:spPr>
          <a:xfrm flipV="1">
            <a:off x="5750894" y="4770457"/>
            <a:ext cx="273604" cy="683875"/>
          </a:xfrm>
          <a:prstGeom prst="line">
            <a:avLst/>
          </a:prstGeom>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026988D2-8C7A-7D3E-BDAC-88631803F136}"/>
              </a:ext>
            </a:extLst>
          </p:cNvPr>
          <p:cNvSpPr txBox="1"/>
          <p:nvPr/>
        </p:nvSpPr>
        <p:spPr>
          <a:xfrm>
            <a:off x="3384362" y="5782053"/>
            <a:ext cx="1340937" cy="400110"/>
          </a:xfrm>
          <a:prstGeom prst="rect">
            <a:avLst/>
          </a:prstGeom>
          <a:noFill/>
        </p:spPr>
        <p:txBody>
          <a:bodyPr wrap="square" rtlCol="0">
            <a:spAutoFit/>
          </a:bodyPr>
          <a:lstStyle/>
          <a:p>
            <a:r>
              <a:rPr lang="en-IN" sz="2000" dirty="0">
                <a:solidFill>
                  <a:schemeClr val="bg1"/>
                </a:solidFill>
                <a:latin typeface="Aparajita" panose="02020603050405020304" pitchFamily="18" charset="0"/>
                <a:cs typeface="Aparajita" panose="02020603050405020304" pitchFamily="18" charset="0"/>
              </a:rPr>
              <a:t>2.4Cr Views</a:t>
            </a:r>
          </a:p>
        </p:txBody>
      </p:sp>
      <p:sp>
        <p:nvSpPr>
          <p:cNvPr id="94" name="TextBox 93">
            <a:extLst>
              <a:ext uri="{FF2B5EF4-FFF2-40B4-BE49-F238E27FC236}">
                <a16:creationId xmlns:a16="http://schemas.microsoft.com/office/drawing/2014/main" id="{1894C3A1-0059-9FF3-9E75-9981431295C3}"/>
              </a:ext>
            </a:extLst>
          </p:cNvPr>
          <p:cNvSpPr txBox="1"/>
          <p:nvPr/>
        </p:nvSpPr>
        <p:spPr>
          <a:xfrm>
            <a:off x="5079655" y="5808889"/>
            <a:ext cx="1340937" cy="400110"/>
          </a:xfrm>
          <a:prstGeom prst="rect">
            <a:avLst/>
          </a:prstGeom>
          <a:noFill/>
        </p:spPr>
        <p:txBody>
          <a:bodyPr wrap="square" rtlCol="0">
            <a:spAutoFit/>
          </a:bodyPr>
          <a:lstStyle/>
          <a:p>
            <a:r>
              <a:rPr lang="en-IN" sz="2000" dirty="0">
                <a:solidFill>
                  <a:schemeClr val="bg1"/>
                </a:solidFill>
                <a:latin typeface="Aparajita" panose="02020603050405020304" pitchFamily="18" charset="0"/>
                <a:cs typeface="Aparajita" panose="02020603050405020304" pitchFamily="18" charset="0"/>
              </a:rPr>
              <a:t>26.6K Likes</a:t>
            </a:r>
          </a:p>
        </p:txBody>
      </p:sp>
      <p:sp>
        <p:nvSpPr>
          <p:cNvPr id="96" name="TextBox 95">
            <a:extLst>
              <a:ext uri="{FF2B5EF4-FFF2-40B4-BE49-F238E27FC236}">
                <a16:creationId xmlns:a16="http://schemas.microsoft.com/office/drawing/2014/main" id="{1E9853A7-7907-5135-EA83-10B9E007D531}"/>
              </a:ext>
            </a:extLst>
          </p:cNvPr>
          <p:cNvSpPr txBox="1"/>
          <p:nvPr/>
        </p:nvSpPr>
        <p:spPr>
          <a:xfrm>
            <a:off x="6715411" y="5782053"/>
            <a:ext cx="1556500" cy="400110"/>
          </a:xfrm>
          <a:prstGeom prst="rect">
            <a:avLst/>
          </a:prstGeom>
          <a:noFill/>
        </p:spPr>
        <p:txBody>
          <a:bodyPr wrap="square" rtlCol="0">
            <a:spAutoFit/>
          </a:bodyPr>
          <a:lstStyle/>
          <a:p>
            <a:r>
              <a:rPr lang="en-IN" sz="2000" dirty="0">
                <a:solidFill>
                  <a:schemeClr val="bg1"/>
                </a:solidFill>
                <a:latin typeface="Aparajita" panose="02020603050405020304" pitchFamily="18" charset="0"/>
                <a:cs typeface="Aparajita" panose="02020603050405020304" pitchFamily="18" charset="0"/>
              </a:rPr>
              <a:t>2.4K Comments</a:t>
            </a:r>
          </a:p>
        </p:txBody>
      </p:sp>
    </p:spTree>
    <p:extLst>
      <p:ext uri="{BB962C8B-B14F-4D97-AF65-F5344CB8AC3E}">
        <p14:creationId xmlns:p14="http://schemas.microsoft.com/office/powerpoint/2010/main" val="2732468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F76ECD-23C1-38B0-D463-D8CD0DFF40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7B152A03-364B-3949-1A41-DF15A5C47E4E}"/>
              </a:ext>
            </a:extLst>
          </p:cNvPr>
          <p:cNvSpPr txBox="1"/>
          <p:nvPr/>
        </p:nvSpPr>
        <p:spPr>
          <a:xfrm>
            <a:off x="3768212" y="160272"/>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7</a:t>
            </a:r>
          </a:p>
        </p:txBody>
      </p:sp>
      <p:cxnSp>
        <p:nvCxnSpPr>
          <p:cNvPr id="8" name="Straight Connector 7">
            <a:extLst>
              <a:ext uri="{FF2B5EF4-FFF2-40B4-BE49-F238E27FC236}">
                <a16:creationId xmlns:a16="http://schemas.microsoft.com/office/drawing/2014/main" id="{1ABF1F5F-5DB9-71A3-3465-A294D029474F}"/>
              </a:ext>
            </a:extLst>
          </p:cNvPr>
          <p:cNvCxnSpPr>
            <a:cxnSpLocks/>
          </p:cNvCxnSpPr>
          <p:nvPr/>
        </p:nvCxnSpPr>
        <p:spPr>
          <a:xfrm>
            <a:off x="3888658" y="737193"/>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960DCC71-D4C0-A113-ABDF-684C3A0D2ECE}"/>
              </a:ext>
            </a:extLst>
          </p:cNvPr>
          <p:cNvSpPr txBox="1"/>
          <p:nvPr/>
        </p:nvSpPr>
        <p:spPr>
          <a:xfrm>
            <a:off x="1052051" y="832786"/>
            <a:ext cx="10087896" cy="461665"/>
          </a:xfrm>
          <a:prstGeom prst="rect">
            <a:avLst/>
          </a:prstGeom>
          <a:noFill/>
        </p:spPr>
        <p:txBody>
          <a:bodyPr wrap="square" rtlCol="0">
            <a:spAutoFit/>
          </a:bodyPr>
          <a:lstStyle/>
          <a:p>
            <a:pPr algn="ctr"/>
            <a:r>
              <a:rPr lang="en-IN" sz="2400" dirty="0">
                <a:solidFill>
                  <a:schemeClr val="bg1"/>
                </a:solidFill>
                <a:latin typeface="Aparajita" panose="02020603050405020304" pitchFamily="18" charset="0"/>
                <a:cs typeface="Aparajita" panose="02020603050405020304" pitchFamily="18" charset="0"/>
              </a:rPr>
              <a:t>What is Video views distribution (consider all the videos) in Netflix India YouTube Channel?</a:t>
            </a:r>
          </a:p>
        </p:txBody>
      </p:sp>
      <p:pic>
        <p:nvPicPr>
          <p:cNvPr id="11" name="Picture 10">
            <a:extLst>
              <a:ext uri="{FF2B5EF4-FFF2-40B4-BE49-F238E27FC236}">
                <a16:creationId xmlns:a16="http://schemas.microsoft.com/office/drawing/2014/main" id="{DF1B35F1-3454-324F-3F01-2A13C677C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9980" y="1673783"/>
            <a:ext cx="4964755" cy="27409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TextBox 11">
            <a:extLst>
              <a:ext uri="{FF2B5EF4-FFF2-40B4-BE49-F238E27FC236}">
                <a16:creationId xmlns:a16="http://schemas.microsoft.com/office/drawing/2014/main" id="{058687E0-0741-50DF-42F5-DC8EBEAA2DF9}"/>
              </a:ext>
            </a:extLst>
          </p:cNvPr>
          <p:cNvSpPr txBox="1"/>
          <p:nvPr/>
        </p:nvSpPr>
        <p:spPr>
          <a:xfrm>
            <a:off x="2246670" y="5184217"/>
            <a:ext cx="7983793" cy="1600438"/>
          </a:xfrm>
          <a:prstGeom prst="rect">
            <a:avLst/>
          </a:prstGeom>
          <a:noFill/>
        </p:spPr>
        <p:txBody>
          <a:bodyPr wrap="square" rtlCol="0">
            <a:spAutoFit/>
          </a:bodyPr>
          <a:lstStyle/>
          <a:p>
            <a:r>
              <a:rPr lang="en-IN" sz="1600" dirty="0">
                <a:solidFill>
                  <a:schemeClr val="bg1"/>
                </a:solidFill>
                <a:latin typeface="Calisto MT" panose="02040603050505030304" pitchFamily="18" charset="0"/>
              </a:rPr>
              <a:t>The analysis shows that view counts on the Netflix India YouTube channel are highly concentrated among a small number of viral videos. The distribution is extremely right-skewed (skewness = 39.58), with the average view count (2.17 million) being much higher than the median (221,081). Furthermore, 75% of videos receive fewer than 937,317 views, indicating that only a limited number of videos achieve exceptionally high reach.</a:t>
            </a:r>
          </a:p>
          <a:p>
            <a:endParaRPr lang="en-IN" sz="1600" dirty="0">
              <a:solidFill>
                <a:schemeClr val="bg1"/>
              </a:solidFill>
              <a:latin typeface="Calisto MT" panose="02040603050505030304" pitchFamily="18" charset="0"/>
            </a:endParaRPr>
          </a:p>
        </p:txBody>
      </p:sp>
      <p:sp>
        <p:nvSpPr>
          <p:cNvPr id="14" name="TextBox 13">
            <a:extLst>
              <a:ext uri="{FF2B5EF4-FFF2-40B4-BE49-F238E27FC236}">
                <a16:creationId xmlns:a16="http://schemas.microsoft.com/office/drawing/2014/main" id="{0A417BBD-5C73-585B-15F6-53D7D464FE2D}"/>
              </a:ext>
            </a:extLst>
          </p:cNvPr>
          <p:cNvSpPr txBox="1"/>
          <p:nvPr/>
        </p:nvSpPr>
        <p:spPr>
          <a:xfrm>
            <a:off x="3755922" y="4624266"/>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Tree>
    <p:extLst>
      <p:ext uri="{BB962C8B-B14F-4D97-AF65-F5344CB8AC3E}">
        <p14:creationId xmlns:p14="http://schemas.microsoft.com/office/powerpoint/2010/main" val="164427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59B552-925C-F975-1E4A-0CDF3F2B2D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493FD087-3BE2-C3E2-40F2-8C07A8EC142A}"/>
              </a:ext>
            </a:extLst>
          </p:cNvPr>
          <p:cNvSpPr txBox="1"/>
          <p:nvPr/>
        </p:nvSpPr>
        <p:spPr>
          <a:xfrm>
            <a:off x="3768212" y="160272"/>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8</a:t>
            </a:r>
          </a:p>
        </p:txBody>
      </p:sp>
      <p:cxnSp>
        <p:nvCxnSpPr>
          <p:cNvPr id="6" name="Straight Connector 5">
            <a:extLst>
              <a:ext uri="{FF2B5EF4-FFF2-40B4-BE49-F238E27FC236}">
                <a16:creationId xmlns:a16="http://schemas.microsoft.com/office/drawing/2014/main" id="{224F1163-51D6-8CEA-D3E1-3DA60FA3841B}"/>
              </a:ext>
            </a:extLst>
          </p:cNvPr>
          <p:cNvCxnSpPr>
            <a:cxnSpLocks/>
          </p:cNvCxnSpPr>
          <p:nvPr/>
        </p:nvCxnSpPr>
        <p:spPr>
          <a:xfrm>
            <a:off x="3888658" y="727361"/>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419E7241-1625-AB83-E076-03C28F5C9073}"/>
              </a:ext>
            </a:extLst>
          </p:cNvPr>
          <p:cNvSpPr txBox="1"/>
          <p:nvPr/>
        </p:nvSpPr>
        <p:spPr>
          <a:xfrm>
            <a:off x="3613354" y="901231"/>
            <a:ext cx="4965290" cy="461665"/>
          </a:xfrm>
          <a:prstGeom prst="rect">
            <a:avLst/>
          </a:prstGeom>
          <a:noFill/>
        </p:spPr>
        <p:txBody>
          <a:bodyPr wrap="square" rtlCol="0">
            <a:spAutoFit/>
          </a:bodyPr>
          <a:lstStyle/>
          <a:p>
            <a:pPr algn="ctr"/>
            <a:r>
              <a:rPr lang="en-IN" sz="2400" dirty="0">
                <a:solidFill>
                  <a:schemeClr val="bg1"/>
                </a:solidFill>
                <a:latin typeface="Aparajita" panose="02020603050405020304" pitchFamily="18" charset="0"/>
                <a:cs typeface="Aparajita" panose="02020603050405020304" pitchFamily="18" charset="0"/>
              </a:rPr>
              <a:t>What is the most used keyword in YT titles?</a:t>
            </a:r>
          </a:p>
        </p:txBody>
      </p:sp>
      <p:pic>
        <p:nvPicPr>
          <p:cNvPr id="7" name="Picture 6">
            <a:extLst>
              <a:ext uri="{FF2B5EF4-FFF2-40B4-BE49-F238E27FC236}">
                <a16:creationId xmlns:a16="http://schemas.microsoft.com/office/drawing/2014/main" id="{7C7297CD-D9D3-3AB6-C8A9-A29FBD9CC3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6308" y="1435350"/>
            <a:ext cx="4139381" cy="23377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extBox 8">
            <a:extLst>
              <a:ext uri="{FF2B5EF4-FFF2-40B4-BE49-F238E27FC236}">
                <a16:creationId xmlns:a16="http://schemas.microsoft.com/office/drawing/2014/main" id="{952DBF69-2D91-13B3-3111-1A70B8F02E84}"/>
              </a:ext>
            </a:extLst>
          </p:cNvPr>
          <p:cNvSpPr txBox="1"/>
          <p:nvPr/>
        </p:nvSpPr>
        <p:spPr>
          <a:xfrm>
            <a:off x="3692010" y="4280610"/>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
        <p:nvSpPr>
          <p:cNvPr id="10" name="TextBox 9">
            <a:extLst>
              <a:ext uri="{FF2B5EF4-FFF2-40B4-BE49-F238E27FC236}">
                <a16:creationId xmlns:a16="http://schemas.microsoft.com/office/drawing/2014/main" id="{FCBA7EAD-1F12-83F7-6739-39A27615B447}"/>
              </a:ext>
            </a:extLst>
          </p:cNvPr>
          <p:cNvSpPr txBox="1"/>
          <p:nvPr/>
        </p:nvSpPr>
        <p:spPr>
          <a:xfrm>
            <a:off x="2590797" y="4742275"/>
            <a:ext cx="7325032" cy="1815882"/>
          </a:xfrm>
          <a:prstGeom prst="rect">
            <a:avLst/>
          </a:prstGeom>
          <a:noFill/>
        </p:spPr>
        <p:txBody>
          <a:bodyPr wrap="square" rtlCol="0">
            <a:spAutoFit/>
          </a:bodyPr>
          <a:lstStyle/>
          <a:p>
            <a:r>
              <a:rPr lang="en-IN" sz="1600" dirty="0">
                <a:solidFill>
                  <a:schemeClr val="bg1"/>
                </a:solidFill>
                <a:latin typeface="Calisto MT" panose="02040603050505030304" pitchFamily="18" charset="0"/>
              </a:rPr>
              <a:t>70.94% of Netflix India’s videos use either “Netflix India” (62.04%) or “Netflix” (8.9%) in their titles, indicating a strong and consistent brand-focused titling strategy.</a:t>
            </a:r>
          </a:p>
          <a:p>
            <a:r>
              <a:rPr lang="en-IN" sz="1600" dirty="0">
                <a:solidFill>
                  <a:schemeClr val="bg1"/>
                </a:solidFill>
                <a:latin typeface="Calisto MT" panose="02040603050505030304" pitchFamily="18" charset="0"/>
              </a:rPr>
              <a:t>Among content-related keywords, 'Official Trailer' is used most frequently, highlighting trailers as the channel's dominant promotional format. In contrast, keywords such as 'Official Teaser' and 'Now Streaming' are used less often, suggesting they play a supporting role in the overall content strategy.</a:t>
            </a:r>
          </a:p>
        </p:txBody>
      </p:sp>
    </p:spTree>
    <p:extLst>
      <p:ext uri="{BB962C8B-B14F-4D97-AF65-F5344CB8AC3E}">
        <p14:creationId xmlns:p14="http://schemas.microsoft.com/office/powerpoint/2010/main" val="2088495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E87833-011E-B3D4-A49D-368FB2C725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4" name="TextBox 3">
            <a:extLst>
              <a:ext uri="{FF2B5EF4-FFF2-40B4-BE49-F238E27FC236}">
                <a16:creationId xmlns:a16="http://schemas.microsoft.com/office/drawing/2014/main" id="{1F1BBEC0-3A06-77B6-05E5-07D3B85429BE}"/>
              </a:ext>
            </a:extLst>
          </p:cNvPr>
          <p:cNvSpPr txBox="1"/>
          <p:nvPr/>
        </p:nvSpPr>
        <p:spPr>
          <a:xfrm>
            <a:off x="3768212" y="160272"/>
            <a:ext cx="4655575"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9</a:t>
            </a:r>
          </a:p>
        </p:txBody>
      </p:sp>
      <p:cxnSp>
        <p:nvCxnSpPr>
          <p:cNvPr id="5" name="Straight Connector 4">
            <a:extLst>
              <a:ext uri="{FF2B5EF4-FFF2-40B4-BE49-F238E27FC236}">
                <a16:creationId xmlns:a16="http://schemas.microsoft.com/office/drawing/2014/main" id="{DBF38F33-D81D-7D54-FD84-331481E55AA4}"/>
              </a:ext>
            </a:extLst>
          </p:cNvPr>
          <p:cNvCxnSpPr>
            <a:cxnSpLocks/>
          </p:cNvCxnSpPr>
          <p:nvPr/>
        </p:nvCxnSpPr>
        <p:spPr>
          <a:xfrm>
            <a:off x="3888658" y="786354"/>
            <a:ext cx="4414684"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84A0290D-CE97-685E-3BE0-C28DAAD34264}"/>
              </a:ext>
            </a:extLst>
          </p:cNvPr>
          <p:cNvSpPr txBox="1"/>
          <p:nvPr/>
        </p:nvSpPr>
        <p:spPr>
          <a:xfrm>
            <a:off x="2639960" y="950772"/>
            <a:ext cx="6912078" cy="461665"/>
          </a:xfrm>
          <a:prstGeom prst="rect">
            <a:avLst/>
          </a:prstGeom>
          <a:noFill/>
        </p:spPr>
        <p:txBody>
          <a:bodyPr wrap="square" rtlCol="0">
            <a:spAutoFit/>
          </a:bodyPr>
          <a:lstStyle/>
          <a:p>
            <a:pPr algn="ctr"/>
            <a:r>
              <a:rPr lang="en-IN" sz="2400" dirty="0">
                <a:solidFill>
                  <a:schemeClr val="bg1"/>
                </a:solidFill>
                <a:latin typeface="Aparajita" panose="02020603050405020304" pitchFamily="18" charset="0"/>
                <a:cs typeface="Aparajita" panose="02020603050405020304" pitchFamily="18" charset="0"/>
              </a:rPr>
              <a:t>What is the frequency of video publishing by weekday? </a:t>
            </a:r>
          </a:p>
        </p:txBody>
      </p:sp>
      <p:pic>
        <p:nvPicPr>
          <p:cNvPr id="10" name="Picture 9">
            <a:extLst>
              <a:ext uri="{FF2B5EF4-FFF2-40B4-BE49-F238E27FC236}">
                <a16:creationId xmlns:a16="http://schemas.microsoft.com/office/drawing/2014/main" id="{7038EA17-306B-CF70-4511-9706EE4E05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6887" y="1555795"/>
            <a:ext cx="4858224" cy="273107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F9FCB534-B086-CAE4-2565-7C0BBB93DB05}"/>
              </a:ext>
            </a:extLst>
          </p:cNvPr>
          <p:cNvSpPr txBox="1"/>
          <p:nvPr/>
        </p:nvSpPr>
        <p:spPr>
          <a:xfrm>
            <a:off x="2639960" y="4983898"/>
            <a:ext cx="7561007" cy="1846659"/>
          </a:xfrm>
          <a:prstGeom prst="rect">
            <a:avLst/>
          </a:prstGeom>
          <a:noFill/>
        </p:spPr>
        <p:txBody>
          <a:bodyPr wrap="square" rtlCol="0">
            <a:spAutoFit/>
          </a:bodyPr>
          <a:lstStyle/>
          <a:p>
            <a:r>
              <a:rPr lang="en-IN" sz="1600" dirty="0">
                <a:solidFill>
                  <a:schemeClr val="bg1"/>
                </a:solidFill>
                <a:latin typeface="Calisto MT" panose="02040603050505030304" pitchFamily="18" charset="0"/>
              </a:rPr>
              <a:t>Netflix India follows a consistent weekly video publishing strategy, releasing content across all seven days of the week. Although videos are uploaded throughout the week, Thursday records the highest publishing frequency, while Sunday has the fewest uploads. The relatively small differences between weekdays indicate that the channel prioritizes maintaining a steady flow of content rather than relying on a single publishing day.</a:t>
            </a:r>
          </a:p>
          <a:p>
            <a:endParaRPr lang="en-IN" sz="1600" dirty="0">
              <a:solidFill>
                <a:schemeClr val="bg1"/>
              </a:solidFill>
              <a:latin typeface="Calisto MT" panose="02040603050505030304" pitchFamily="18" charset="0"/>
            </a:endParaRPr>
          </a:p>
        </p:txBody>
      </p:sp>
      <p:sp>
        <p:nvSpPr>
          <p:cNvPr id="13" name="TextBox 12">
            <a:extLst>
              <a:ext uri="{FF2B5EF4-FFF2-40B4-BE49-F238E27FC236}">
                <a16:creationId xmlns:a16="http://schemas.microsoft.com/office/drawing/2014/main" id="{9C2D837B-F4D7-CEF1-4886-D0E28B970FED}"/>
              </a:ext>
            </a:extLst>
          </p:cNvPr>
          <p:cNvSpPr txBox="1"/>
          <p:nvPr/>
        </p:nvSpPr>
        <p:spPr>
          <a:xfrm>
            <a:off x="3666887" y="4501174"/>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Tree>
    <p:extLst>
      <p:ext uri="{BB962C8B-B14F-4D97-AF65-F5344CB8AC3E}">
        <p14:creationId xmlns:p14="http://schemas.microsoft.com/office/powerpoint/2010/main" val="3328656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D87066-BC47-E379-41C2-C1E0964E03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63D27AC4-1C8D-C0D6-E370-EFD06301A189}"/>
              </a:ext>
            </a:extLst>
          </p:cNvPr>
          <p:cNvSpPr txBox="1"/>
          <p:nvPr/>
        </p:nvSpPr>
        <p:spPr>
          <a:xfrm>
            <a:off x="3575253" y="160272"/>
            <a:ext cx="5041491"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10</a:t>
            </a:r>
          </a:p>
        </p:txBody>
      </p:sp>
      <p:cxnSp>
        <p:nvCxnSpPr>
          <p:cNvPr id="6" name="Straight Connector 5">
            <a:extLst>
              <a:ext uri="{FF2B5EF4-FFF2-40B4-BE49-F238E27FC236}">
                <a16:creationId xmlns:a16="http://schemas.microsoft.com/office/drawing/2014/main" id="{18A08D1F-14D0-1231-C59A-CE2DB8668787}"/>
              </a:ext>
            </a:extLst>
          </p:cNvPr>
          <p:cNvCxnSpPr>
            <a:cxnSpLocks/>
          </p:cNvCxnSpPr>
          <p:nvPr/>
        </p:nvCxnSpPr>
        <p:spPr>
          <a:xfrm>
            <a:off x="3696383" y="786354"/>
            <a:ext cx="4606959"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C2B3F8EE-5D00-2D2B-F85D-1E7EDA537C64}"/>
              </a:ext>
            </a:extLst>
          </p:cNvPr>
          <p:cNvSpPr txBox="1"/>
          <p:nvPr/>
        </p:nvSpPr>
        <p:spPr>
          <a:xfrm>
            <a:off x="1915445" y="929713"/>
            <a:ext cx="8361108" cy="830997"/>
          </a:xfrm>
          <a:prstGeom prst="rect">
            <a:avLst/>
          </a:prstGeom>
          <a:noFill/>
        </p:spPr>
        <p:txBody>
          <a:bodyPr wrap="square" rtlCol="0">
            <a:spAutoFit/>
          </a:bodyPr>
          <a:lstStyle/>
          <a:p>
            <a:pPr algn="ctr"/>
            <a:r>
              <a:rPr lang="en-IN" sz="2400" b="1" dirty="0">
                <a:solidFill>
                  <a:schemeClr val="bg1"/>
                </a:solidFill>
                <a:latin typeface="Aparajita" panose="02020603050405020304" pitchFamily="18" charset="0"/>
                <a:cs typeface="Aparajita" panose="02020603050405020304" pitchFamily="18" charset="0"/>
              </a:rPr>
              <a:t>What are the keywords Netflix used the most in their YouTube Video tags? </a:t>
            </a:r>
            <a:endParaRPr lang="en-IN" sz="2400" dirty="0">
              <a:solidFill>
                <a:schemeClr val="bg1"/>
              </a:solidFill>
              <a:latin typeface="Aparajita" panose="02020603050405020304" pitchFamily="18" charset="0"/>
              <a:cs typeface="Aparajita" panose="02020603050405020304" pitchFamily="18" charset="0"/>
            </a:endParaRPr>
          </a:p>
          <a:p>
            <a:endParaRPr lang="en-IN" sz="2400" dirty="0">
              <a:solidFill>
                <a:schemeClr val="bg1"/>
              </a:solidFill>
              <a:latin typeface="Aparajita" panose="02020603050405020304" pitchFamily="18" charset="0"/>
              <a:cs typeface="Aparajita" panose="02020603050405020304" pitchFamily="18" charset="0"/>
            </a:endParaRPr>
          </a:p>
        </p:txBody>
      </p:sp>
      <p:pic>
        <p:nvPicPr>
          <p:cNvPr id="10" name="Picture 9">
            <a:extLst>
              <a:ext uri="{FF2B5EF4-FFF2-40B4-BE49-F238E27FC236}">
                <a16:creationId xmlns:a16="http://schemas.microsoft.com/office/drawing/2014/main" id="{1B3C41DE-A185-5497-066E-487281915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068" y="1421345"/>
            <a:ext cx="3372610" cy="2501726"/>
          </a:xfrm>
          <a:prstGeom prst="roundRect">
            <a:avLst>
              <a:gd name="adj" fmla="val 8021"/>
            </a:avLst>
          </a:prstGeom>
          <a:solidFill>
            <a:srgbClr val="FFFFFF">
              <a:shade val="85000"/>
            </a:srgbClr>
          </a:solidFill>
          <a:ln>
            <a:noFill/>
          </a:ln>
          <a:effectLst>
            <a:reflection blurRad="12700" stA="38000" endPos="28000" dist="5000" dir="5400000" sy="-100000" algn="bl" rotWithShape="0"/>
          </a:effectLst>
        </p:spPr>
      </p:pic>
      <p:sp>
        <p:nvSpPr>
          <p:cNvPr id="11" name="TextBox 10">
            <a:extLst>
              <a:ext uri="{FF2B5EF4-FFF2-40B4-BE49-F238E27FC236}">
                <a16:creationId xmlns:a16="http://schemas.microsoft.com/office/drawing/2014/main" id="{BFDB7710-62DD-5855-E872-7F7FC65404C4}"/>
              </a:ext>
            </a:extLst>
          </p:cNvPr>
          <p:cNvSpPr txBox="1"/>
          <p:nvPr/>
        </p:nvSpPr>
        <p:spPr>
          <a:xfrm>
            <a:off x="1915445" y="5015936"/>
            <a:ext cx="9077020" cy="1600438"/>
          </a:xfrm>
          <a:prstGeom prst="rect">
            <a:avLst/>
          </a:prstGeom>
          <a:noFill/>
        </p:spPr>
        <p:txBody>
          <a:bodyPr wrap="square" rtlCol="0">
            <a:spAutoFit/>
          </a:bodyPr>
          <a:lstStyle/>
          <a:p>
            <a:r>
              <a:rPr lang="en-IN" sz="1600" dirty="0">
                <a:solidFill>
                  <a:schemeClr val="bg1"/>
                </a:solidFill>
                <a:latin typeface="Calisto MT" panose="02040603050505030304" pitchFamily="18" charset="0"/>
              </a:rPr>
              <a:t>Netflix India primarily uses brand-focused tags such as ‘#</a:t>
            </a:r>
            <a:r>
              <a:rPr lang="en-IN" sz="1600" dirty="0" err="1">
                <a:solidFill>
                  <a:schemeClr val="bg1"/>
                </a:solidFill>
                <a:latin typeface="Calisto MT" panose="02040603050505030304" pitchFamily="18" charset="0"/>
              </a:rPr>
              <a:t>netflix</a:t>
            </a:r>
            <a:r>
              <a:rPr lang="en-IN" sz="1600" dirty="0">
                <a:solidFill>
                  <a:schemeClr val="bg1"/>
                </a:solidFill>
                <a:latin typeface="Calisto MT" panose="02040603050505030304" pitchFamily="18" charset="0"/>
              </a:rPr>
              <a:t>', ‘#</a:t>
            </a:r>
            <a:r>
              <a:rPr lang="en-IN" sz="1600" dirty="0" err="1">
                <a:solidFill>
                  <a:schemeClr val="bg1"/>
                </a:solidFill>
                <a:latin typeface="Calisto MT" panose="02040603050505030304" pitchFamily="18" charset="0"/>
              </a:rPr>
              <a:t>netflix</a:t>
            </a:r>
            <a:r>
              <a:rPr lang="en-IN" sz="1600" dirty="0">
                <a:solidFill>
                  <a:schemeClr val="bg1"/>
                </a:solidFill>
                <a:latin typeface="Calisto MT" panose="02040603050505030304" pitchFamily="18" charset="0"/>
              </a:rPr>
              <a:t> </a:t>
            </a:r>
            <a:r>
              <a:rPr lang="en-IN" sz="1600" dirty="0" err="1">
                <a:solidFill>
                  <a:schemeClr val="bg1"/>
                </a:solidFill>
                <a:latin typeface="Calisto MT" panose="02040603050505030304" pitchFamily="18" charset="0"/>
              </a:rPr>
              <a:t>india</a:t>
            </a:r>
            <a:r>
              <a:rPr lang="en-IN" sz="1600" dirty="0">
                <a:solidFill>
                  <a:schemeClr val="bg1"/>
                </a:solidFill>
                <a:latin typeface="Calisto MT" panose="02040603050505030304" pitchFamily="18" charset="0"/>
              </a:rPr>
              <a:t>', and ‘#</a:t>
            </a:r>
            <a:r>
              <a:rPr lang="en-IN" sz="1600" dirty="0" err="1">
                <a:solidFill>
                  <a:schemeClr val="bg1"/>
                </a:solidFill>
                <a:latin typeface="Calisto MT" panose="02040603050505030304" pitchFamily="18" charset="0"/>
              </a:rPr>
              <a:t>netflix</a:t>
            </a:r>
            <a:r>
              <a:rPr lang="en-IN" sz="1600" dirty="0">
                <a:solidFill>
                  <a:schemeClr val="bg1"/>
                </a:solidFill>
                <a:latin typeface="Calisto MT" panose="02040603050505030304" pitchFamily="18" charset="0"/>
              </a:rPr>
              <a:t> shows' to strengthen brand identity and improve content discoverability. Among descriptive content tags, 'trailer' is the most commonly used, highlighting promotional content as a major part of the channel's publishing strategy. The presence of genre-specific tags like 'comedy' also indicates an effort to improve discoverability for audiences interested in specific types of content.</a:t>
            </a:r>
          </a:p>
          <a:p>
            <a:endParaRPr lang="en-IN" sz="1600" dirty="0">
              <a:solidFill>
                <a:schemeClr val="bg1"/>
              </a:solidFill>
              <a:latin typeface="Calisto MT" panose="02040603050505030304" pitchFamily="18" charset="0"/>
            </a:endParaRPr>
          </a:p>
        </p:txBody>
      </p:sp>
      <p:sp>
        <p:nvSpPr>
          <p:cNvPr id="13" name="TextBox 12">
            <a:extLst>
              <a:ext uri="{FF2B5EF4-FFF2-40B4-BE49-F238E27FC236}">
                <a16:creationId xmlns:a16="http://schemas.microsoft.com/office/drawing/2014/main" id="{A0660F1C-B3C1-61F8-C0A8-1EFE55B1C5DC}"/>
              </a:ext>
            </a:extLst>
          </p:cNvPr>
          <p:cNvSpPr txBox="1"/>
          <p:nvPr/>
        </p:nvSpPr>
        <p:spPr>
          <a:xfrm>
            <a:off x="3696383" y="4414703"/>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Tree>
    <p:extLst>
      <p:ext uri="{BB962C8B-B14F-4D97-AF65-F5344CB8AC3E}">
        <p14:creationId xmlns:p14="http://schemas.microsoft.com/office/powerpoint/2010/main" val="1218890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E4219E-862A-44D4-11DC-3F597BF68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DCB776AE-F38A-3146-E755-CF19A844ABE7}"/>
              </a:ext>
            </a:extLst>
          </p:cNvPr>
          <p:cNvSpPr txBox="1"/>
          <p:nvPr/>
        </p:nvSpPr>
        <p:spPr>
          <a:xfrm>
            <a:off x="3639164" y="160272"/>
            <a:ext cx="4913672" cy="769441"/>
          </a:xfrm>
          <a:prstGeom prst="rect">
            <a:avLst/>
          </a:prstGeom>
          <a:noFill/>
        </p:spPr>
        <p:txBody>
          <a:bodyPr wrap="square" rtlCol="0">
            <a:spAutoFit/>
          </a:bodyPr>
          <a:lstStyle/>
          <a:p>
            <a:r>
              <a:rPr lang="en-IN" sz="4400" spc="300" dirty="0">
                <a:solidFill>
                  <a:srgbClr val="FF0000"/>
                </a:solidFill>
                <a:latin typeface="Aparajita" panose="02020603050405020304" pitchFamily="18" charset="0"/>
                <a:cs typeface="Aparajita" panose="02020603050405020304" pitchFamily="18" charset="0"/>
              </a:rPr>
              <a:t>Research Question 11</a:t>
            </a:r>
          </a:p>
        </p:txBody>
      </p:sp>
      <p:cxnSp>
        <p:nvCxnSpPr>
          <p:cNvPr id="6" name="Straight Connector 5">
            <a:extLst>
              <a:ext uri="{FF2B5EF4-FFF2-40B4-BE49-F238E27FC236}">
                <a16:creationId xmlns:a16="http://schemas.microsoft.com/office/drawing/2014/main" id="{1450C994-79D9-E46D-6D06-8DB641752C4B}"/>
              </a:ext>
            </a:extLst>
          </p:cNvPr>
          <p:cNvCxnSpPr>
            <a:cxnSpLocks/>
          </p:cNvCxnSpPr>
          <p:nvPr/>
        </p:nvCxnSpPr>
        <p:spPr>
          <a:xfrm>
            <a:off x="3800167" y="796186"/>
            <a:ext cx="4576917"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725A9764-A6EE-1A4E-CD8C-F404B6C4E2D1}"/>
              </a:ext>
            </a:extLst>
          </p:cNvPr>
          <p:cNvSpPr txBox="1"/>
          <p:nvPr/>
        </p:nvSpPr>
        <p:spPr>
          <a:xfrm>
            <a:off x="3173360" y="929712"/>
            <a:ext cx="5830529" cy="461665"/>
          </a:xfrm>
          <a:prstGeom prst="rect">
            <a:avLst/>
          </a:prstGeom>
          <a:noFill/>
        </p:spPr>
        <p:txBody>
          <a:bodyPr wrap="square" rtlCol="0">
            <a:spAutoFit/>
          </a:bodyPr>
          <a:lstStyle/>
          <a:p>
            <a:pPr algn="ctr"/>
            <a:r>
              <a:rPr lang="en-IN" sz="2400" b="1" dirty="0">
                <a:solidFill>
                  <a:schemeClr val="bg1"/>
                </a:solidFill>
                <a:latin typeface="Aparajita" panose="02020603050405020304" pitchFamily="18" charset="0"/>
                <a:cs typeface="Aparajita" panose="02020603050405020304" pitchFamily="18" charset="0"/>
              </a:rPr>
              <a:t>Does title length influence views?</a:t>
            </a:r>
            <a:endParaRPr lang="en-IN" sz="2400" dirty="0">
              <a:solidFill>
                <a:schemeClr val="bg1"/>
              </a:solidFill>
              <a:latin typeface="Aparajita" panose="02020603050405020304" pitchFamily="18" charset="0"/>
              <a:cs typeface="Aparajita" panose="02020603050405020304" pitchFamily="18" charset="0"/>
            </a:endParaRPr>
          </a:p>
        </p:txBody>
      </p:sp>
      <p:pic>
        <p:nvPicPr>
          <p:cNvPr id="10" name="Picture 9">
            <a:extLst>
              <a:ext uri="{FF2B5EF4-FFF2-40B4-BE49-F238E27FC236}">
                <a16:creationId xmlns:a16="http://schemas.microsoft.com/office/drawing/2014/main" id="{AEC56511-6768-D389-057C-6C1DA5EC59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6763" y="1432101"/>
            <a:ext cx="5203722" cy="31595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TextBox 11">
            <a:extLst>
              <a:ext uri="{FF2B5EF4-FFF2-40B4-BE49-F238E27FC236}">
                <a16:creationId xmlns:a16="http://schemas.microsoft.com/office/drawing/2014/main" id="{69A18860-C105-4BF3-E463-1FF9411920DC}"/>
              </a:ext>
            </a:extLst>
          </p:cNvPr>
          <p:cNvSpPr txBox="1"/>
          <p:nvPr/>
        </p:nvSpPr>
        <p:spPr>
          <a:xfrm>
            <a:off x="3725194" y="4791888"/>
            <a:ext cx="4965291" cy="461665"/>
          </a:xfrm>
          <a:prstGeom prst="rect">
            <a:avLst/>
          </a:prstGeom>
          <a:noFill/>
        </p:spPr>
        <p:txBody>
          <a:bodyPr wrap="square" rtlCol="0">
            <a:spAutoFit/>
          </a:bodyPr>
          <a:lstStyle/>
          <a:p>
            <a:pPr algn="ctr"/>
            <a:r>
              <a:rPr lang="en-IN" sz="2400" dirty="0">
                <a:solidFill>
                  <a:srgbClr val="F5F5F5"/>
                </a:solidFill>
                <a:latin typeface="Aparajita" panose="02020603050405020304" pitchFamily="18" charset="0"/>
                <a:cs typeface="Aparajita" panose="02020603050405020304" pitchFamily="18" charset="0"/>
              </a:rPr>
              <a:t>💡Key Findings &amp; Business Insights 💡</a:t>
            </a:r>
          </a:p>
        </p:txBody>
      </p:sp>
      <p:sp>
        <p:nvSpPr>
          <p:cNvPr id="13" name="TextBox 12">
            <a:extLst>
              <a:ext uri="{FF2B5EF4-FFF2-40B4-BE49-F238E27FC236}">
                <a16:creationId xmlns:a16="http://schemas.microsoft.com/office/drawing/2014/main" id="{03262B3E-5D33-59E6-B902-14BE9D47BFDF}"/>
              </a:ext>
            </a:extLst>
          </p:cNvPr>
          <p:cNvSpPr txBox="1"/>
          <p:nvPr/>
        </p:nvSpPr>
        <p:spPr>
          <a:xfrm>
            <a:off x="1542433" y="5253553"/>
            <a:ext cx="9330812" cy="1569660"/>
          </a:xfrm>
          <a:prstGeom prst="rect">
            <a:avLst/>
          </a:prstGeom>
          <a:noFill/>
        </p:spPr>
        <p:txBody>
          <a:bodyPr wrap="square" rtlCol="0">
            <a:spAutoFit/>
          </a:bodyPr>
          <a:lstStyle/>
          <a:p>
            <a:r>
              <a:rPr lang="en-IN" sz="1600" dirty="0">
                <a:solidFill>
                  <a:schemeClr val="bg1"/>
                </a:solidFill>
                <a:latin typeface="Calisto MT" panose="02040603050505030304" pitchFamily="18" charset="0"/>
              </a:rPr>
              <a:t>The analysis found virtually no relationship between title length and video views (Pearson's r = 0.004). Although videos with titles between 51 and 70 characters recorded the highest average view count, the differences across title-length buckets were inconsistent. This suggests that title length alone is not a reliable driver of video performance, and other factors such as content relevance, thumbnails, and audience interest are likely to play a more significant role in attracting viewers.</a:t>
            </a:r>
          </a:p>
          <a:p>
            <a:endParaRPr lang="en-IN" sz="1600" dirty="0">
              <a:solidFill>
                <a:schemeClr val="bg1"/>
              </a:solidFill>
              <a:latin typeface="Calisto MT" panose="02040603050505030304" pitchFamily="18" charset="0"/>
            </a:endParaRPr>
          </a:p>
        </p:txBody>
      </p:sp>
    </p:spTree>
    <p:extLst>
      <p:ext uri="{BB962C8B-B14F-4D97-AF65-F5344CB8AC3E}">
        <p14:creationId xmlns:p14="http://schemas.microsoft.com/office/powerpoint/2010/main" val="1270071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DB5A09-8FD4-7F10-9ADB-F07FB871C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512" y="254878"/>
            <a:ext cx="520373" cy="674835"/>
          </a:xfrm>
          <a:prstGeom prst="rect">
            <a:avLst/>
          </a:prstGeom>
        </p:spPr>
      </p:pic>
      <p:sp>
        <p:nvSpPr>
          <p:cNvPr id="5" name="TextBox 4">
            <a:extLst>
              <a:ext uri="{FF2B5EF4-FFF2-40B4-BE49-F238E27FC236}">
                <a16:creationId xmlns:a16="http://schemas.microsoft.com/office/drawing/2014/main" id="{CCCE3D34-C214-3DF3-C4D2-390ED0C6E925}"/>
              </a:ext>
            </a:extLst>
          </p:cNvPr>
          <p:cNvSpPr txBox="1"/>
          <p:nvPr/>
        </p:nvSpPr>
        <p:spPr>
          <a:xfrm>
            <a:off x="3018503" y="160272"/>
            <a:ext cx="6154993" cy="769441"/>
          </a:xfrm>
          <a:prstGeom prst="rect">
            <a:avLst/>
          </a:prstGeom>
          <a:noFill/>
        </p:spPr>
        <p:txBody>
          <a:bodyPr wrap="square">
            <a:spAutoFit/>
          </a:bodyPr>
          <a:lstStyle/>
          <a:p>
            <a:r>
              <a:rPr lang="en-IN" sz="4400" spc="300" dirty="0">
                <a:solidFill>
                  <a:srgbClr val="FF0000"/>
                </a:solidFill>
                <a:latin typeface="Aparajita" panose="02020603050405020304" pitchFamily="18" charset="0"/>
                <a:cs typeface="Aparajita" panose="02020603050405020304" pitchFamily="18" charset="0"/>
              </a:rPr>
              <a:t> Strategic Recommendation</a:t>
            </a:r>
          </a:p>
        </p:txBody>
      </p:sp>
      <p:cxnSp>
        <p:nvCxnSpPr>
          <p:cNvPr id="6" name="Straight Connector 5">
            <a:extLst>
              <a:ext uri="{FF2B5EF4-FFF2-40B4-BE49-F238E27FC236}">
                <a16:creationId xmlns:a16="http://schemas.microsoft.com/office/drawing/2014/main" id="{49C875C1-3EDC-5500-6D73-907AF028F3AC}"/>
              </a:ext>
            </a:extLst>
          </p:cNvPr>
          <p:cNvCxnSpPr>
            <a:cxnSpLocks/>
          </p:cNvCxnSpPr>
          <p:nvPr/>
        </p:nvCxnSpPr>
        <p:spPr>
          <a:xfrm>
            <a:off x="3308554" y="776522"/>
            <a:ext cx="5687962" cy="0"/>
          </a:xfrm>
          <a:prstGeom prst="line">
            <a:avLst/>
          </a:prstGeom>
          <a:ln>
            <a:solidFill>
              <a:srgbClr val="E50914"/>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8FC566F2-644B-414C-5313-4A01FAFF0E4D}"/>
              </a:ext>
            </a:extLst>
          </p:cNvPr>
          <p:cNvSpPr txBox="1"/>
          <p:nvPr/>
        </p:nvSpPr>
        <p:spPr>
          <a:xfrm>
            <a:off x="3018502" y="929713"/>
            <a:ext cx="6154993" cy="5755422"/>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marL="342900" indent="-342900">
              <a:buAutoNum type="arabicPeriod"/>
            </a:pPr>
            <a:r>
              <a:rPr lang="en-IN" sz="1600" b="1" dirty="0">
                <a:solidFill>
                  <a:schemeClr val="bg1"/>
                </a:solidFill>
                <a:latin typeface="Calisto MT" panose="02040603050505030304" pitchFamily="18" charset="0"/>
              </a:rPr>
              <a:t>🎬 Prioritize High-Performing Content Themes</a:t>
            </a:r>
            <a:br>
              <a:rPr lang="en-IN" sz="1600" dirty="0">
                <a:solidFill>
                  <a:schemeClr val="bg1"/>
                </a:solidFill>
                <a:latin typeface="Calisto MT" panose="02040603050505030304" pitchFamily="18" charset="0"/>
              </a:rPr>
            </a:br>
            <a:r>
              <a:rPr lang="en-IN" sz="1600" dirty="0">
                <a:solidFill>
                  <a:schemeClr val="bg1"/>
                </a:solidFill>
                <a:latin typeface="Calisto MT" panose="02040603050505030304" pitchFamily="18" charset="0"/>
              </a:rPr>
              <a:t>Focus more on content themes that consistently generate higher views and engagement</a:t>
            </a:r>
          </a:p>
          <a:p>
            <a:pPr marL="342900" indent="-342900">
              <a:buAutoNum type="arabicPeriod"/>
            </a:pPr>
            <a:endParaRPr lang="en-IN" sz="1600" dirty="0">
              <a:solidFill>
                <a:schemeClr val="bg1"/>
              </a:solidFill>
              <a:latin typeface="Calisto MT" panose="02040603050505030304" pitchFamily="18" charset="0"/>
            </a:endParaRPr>
          </a:p>
          <a:p>
            <a:pPr marL="342900" indent="-342900">
              <a:buAutoNum type="arabicPeriod"/>
            </a:pPr>
            <a:r>
              <a:rPr lang="en-IN" sz="1600" b="1" dirty="0">
                <a:solidFill>
                  <a:schemeClr val="bg1"/>
                </a:solidFill>
                <a:latin typeface="Calisto MT" panose="02040603050505030304" pitchFamily="18" charset="0"/>
              </a:rPr>
              <a:t>📝 Optimize Video Titles</a:t>
            </a:r>
            <a:br>
              <a:rPr lang="en-IN" sz="1600" dirty="0">
                <a:solidFill>
                  <a:schemeClr val="bg1"/>
                </a:solidFill>
                <a:latin typeface="Calisto MT" panose="02040603050505030304" pitchFamily="18" charset="0"/>
              </a:rPr>
            </a:br>
            <a:r>
              <a:rPr lang="en-IN" sz="1600" dirty="0">
                <a:solidFill>
                  <a:schemeClr val="bg1"/>
                </a:solidFill>
                <a:latin typeface="Calisto MT" panose="02040603050505030304" pitchFamily="18" charset="0"/>
              </a:rPr>
              <a:t>Use proven, high-performing keywords in concise titles while maintaining strong brand visibility.</a:t>
            </a:r>
          </a:p>
          <a:p>
            <a:pPr marL="342900" indent="-342900">
              <a:buAutoNum type="arabicPeriod"/>
            </a:pPr>
            <a:endParaRPr lang="en-IN" sz="1600" dirty="0">
              <a:solidFill>
                <a:schemeClr val="bg1"/>
              </a:solidFill>
              <a:latin typeface="Calisto MT" panose="02040603050505030304" pitchFamily="18" charset="0"/>
            </a:endParaRPr>
          </a:p>
          <a:p>
            <a:pPr marL="342900" indent="-342900">
              <a:buAutoNum type="arabicPeriod"/>
            </a:pPr>
            <a:r>
              <a:rPr lang="en-IN" sz="1600" b="1" dirty="0">
                <a:solidFill>
                  <a:schemeClr val="bg1"/>
                </a:solidFill>
                <a:latin typeface="Calisto MT" panose="02040603050505030304" pitchFamily="18" charset="0"/>
              </a:rPr>
              <a:t>📅 Optimize Publishing Schedule</a:t>
            </a:r>
            <a:br>
              <a:rPr lang="en-IN" sz="1600" dirty="0">
                <a:solidFill>
                  <a:schemeClr val="bg1"/>
                </a:solidFill>
                <a:latin typeface="Calisto MT" panose="02040603050505030304" pitchFamily="18" charset="0"/>
              </a:rPr>
            </a:br>
            <a:r>
              <a:rPr lang="en-IN" sz="1600" dirty="0">
                <a:solidFill>
                  <a:schemeClr val="bg1"/>
                </a:solidFill>
                <a:latin typeface="Calisto MT" panose="02040603050505030304" pitchFamily="18" charset="0"/>
              </a:rPr>
              <a:t>Prioritize the weekdays and publishing periods associated with stronger video performance.</a:t>
            </a:r>
          </a:p>
          <a:p>
            <a:pPr marL="342900" indent="-342900">
              <a:buAutoNum type="arabicPeriod"/>
            </a:pPr>
            <a:endParaRPr lang="en-IN" sz="1600" dirty="0">
              <a:solidFill>
                <a:schemeClr val="bg1"/>
              </a:solidFill>
              <a:latin typeface="Calisto MT" panose="02040603050505030304" pitchFamily="18" charset="0"/>
            </a:endParaRPr>
          </a:p>
          <a:p>
            <a:r>
              <a:rPr lang="en-IN" sz="1600" b="1" dirty="0">
                <a:solidFill>
                  <a:schemeClr val="bg1"/>
                </a:solidFill>
                <a:latin typeface="Calisto MT" panose="02040603050505030304" pitchFamily="18" charset="0"/>
              </a:rPr>
              <a:t>4.  🏷️ Use Tags Strategically, Not Excessively</a:t>
            </a:r>
            <a:br>
              <a:rPr lang="en-IN" sz="1600" dirty="0">
                <a:solidFill>
                  <a:schemeClr val="bg1"/>
                </a:solidFill>
                <a:latin typeface="Calisto MT" panose="02040603050505030304" pitchFamily="18" charset="0"/>
              </a:rPr>
            </a:br>
            <a:r>
              <a:rPr lang="en-IN" sz="1600" dirty="0">
                <a:solidFill>
                  <a:schemeClr val="bg1"/>
                </a:solidFill>
                <a:latin typeface="Calisto MT" panose="02040603050505030304" pitchFamily="18" charset="0"/>
              </a:rPr>
              <a:t>      Maintain relevant tags for discoverability, but focus more on                       </a:t>
            </a:r>
            <a:r>
              <a:rPr lang="en-IN" sz="1600" b="1" dirty="0">
                <a:solidFill>
                  <a:schemeClr val="bg1"/>
                </a:solidFill>
                <a:latin typeface="Calisto MT" panose="02040603050505030304" pitchFamily="18" charset="0"/>
              </a:rPr>
              <a:t>content quality, topic relevance, and strong titles</a:t>
            </a:r>
            <a:r>
              <a:rPr lang="en-IN" sz="1600" dirty="0">
                <a:solidFill>
                  <a:schemeClr val="bg1"/>
                </a:solidFill>
                <a:latin typeface="Calisto MT" panose="02040603050505030304" pitchFamily="18" charset="0"/>
              </a:rPr>
              <a:t> than simply increasing tag count.</a:t>
            </a:r>
          </a:p>
          <a:p>
            <a:endParaRPr lang="en-IN" sz="1600" dirty="0">
              <a:solidFill>
                <a:schemeClr val="bg1"/>
              </a:solidFill>
              <a:latin typeface="Calisto MT" panose="02040603050505030304" pitchFamily="18" charset="0"/>
            </a:endParaRPr>
          </a:p>
          <a:p>
            <a:r>
              <a:rPr lang="en-IN" sz="1600" b="1" dirty="0">
                <a:solidFill>
                  <a:schemeClr val="bg1"/>
                </a:solidFill>
                <a:latin typeface="Calisto MT" panose="02040603050505030304" pitchFamily="18" charset="0"/>
              </a:rPr>
              <a:t>5.  ⏱️ Focus on Content Value Over Video Length</a:t>
            </a:r>
            <a:br>
              <a:rPr lang="en-IN" sz="1600" dirty="0">
                <a:solidFill>
                  <a:schemeClr val="bg1"/>
                </a:solidFill>
                <a:latin typeface="Calisto MT" panose="02040603050505030304" pitchFamily="18" charset="0"/>
              </a:rPr>
            </a:br>
            <a:r>
              <a:rPr lang="en-IN" sz="1600" dirty="0">
                <a:solidFill>
                  <a:schemeClr val="bg1"/>
                </a:solidFill>
                <a:latin typeface="Calisto MT" panose="02040603050505030304" pitchFamily="18" charset="0"/>
              </a:rPr>
              <a:t>          Avoid assuming longer videos perform better. Optimize    duration based on the content type and audience value rather than targeting a fixed length.</a:t>
            </a:r>
          </a:p>
          <a:p>
            <a:pPr marL="342900" indent="-342900">
              <a:buAutoNum type="arabicPeriod"/>
            </a:pPr>
            <a:endParaRPr lang="en-IN" sz="1600" dirty="0">
              <a:solidFill>
                <a:schemeClr val="bg1"/>
              </a:solidFill>
              <a:latin typeface="Calisto MT" panose="02040603050505030304" pitchFamily="18" charset="0"/>
            </a:endParaRPr>
          </a:p>
          <a:p>
            <a:pPr marL="342900" indent="-342900">
              <a:buAutoNum type="arabicPeriod"/>
            </a:pPr>
            <a:endParaRPr lang="en-IN" sz="1600" dirty="0">
              <a:solidFill>
                <a:schemeClr val="bg1"/>
              </a:solidFill>
              <a:latin typeface="Calisto MT" panose="02040603050505030304" pitchFamily="18" charset="0"/>
            </a:endParaRPr>
          </a:p>
        </p:txBody>
      </p:sp>
    </p:spTree>
    <p:extLst>
      <p:ext uri="{BB962C8B-B14F-4D97-AF65-F5344CB8AC3E}">
        <p14:creationId xmlns:p14="http://schemas.microsoft.com/office/powerpoint/2010/main" val="518124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AE8DB9-BE4D-54C5-185E-203CFADCD205}"/>
              </a:ext>
            </a:extLst>
          </p:cNvPr>
          <p:cNvSpPr txBox="1"/>
          <p:nvPr/>
        </p:nvSpPr>
        <p:spPr>
          <a:xfrm>
            <a:off x="1633959" y="254878"/>
            <a:ext cx="8924081" cy="1446550"/>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en-IN" sz="8800" b="1" dirty="0">
                <a:solidFill>
                  <a:schemeClr val="bg1"/>
                </a:solidFill>
                <a:latin typeface="Aparajita" panose="02020603050405020304" pitchFamily="18" charset="0"/>
                <a:cs typeface="Aparajita" panose="02020603050405020304" pitchFamily="18" charset="0"/>
              </a:rPr>
              <a:t>Thank You</a:t>
            </a:r>
          </a:p>
        </p:txBody>
      </p:sp>
      <p:sp>
        <p:nvSpPr>
          <p:cNvPr id="5" name="TextBox 4">
            <a:extLst>
              <a:ext uri="{FF2B5EF4-FFF2-40B4-BE49-F238E27FC236}">
                <a16:creationId xmlns:a16="http://schemas.microsoft.com/office/drawing/2014/main" id="{85FC91C0-E77F-4B74-AF4C-014519B0B46B}"/>
              </a:ext>
            </a:extLst>
          </p:cNvPr>
          <p:cNvSpPr txBox="1"/>
          <p:nvPr/>
        </p:nvSpPr>
        <p:spPr>
          <a:xfrm>
            <a:off x="4132160" y="2226737"/>
            <a:ext cx="5845215" cy="954107"/>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en-IN" sz="2800" b="1" dirty="0">
                <a:solidFill>
                  <a:schemeClr val="bg1"/>
                </a:solidFill>
                <a:latin typeface="Aparajita" panose="02020603050405020304" pitchFamily="18" charset="0"/>
                <a:cs typeface="Aparajita" panose="02020603050405020304" pitchFamily="18" charset="0"/>
              </a:rPr>
              <a:t>BISWAJIT SASMAL</a:t>
            </a:r>
          </a:p>
          <a:p>
            <a:pPr algn="ctr"/>
            <a:r>
              <a:rPr lang="en-IN" sz="2800" b="1" dirty="0">
                <a:solidFill>
                  <a:schemeClr val="bg1"/>
                </a:solidFill>
                <a:latin typeface="Aparajita" panose="02020603050405020304" pitchFamily="18" charset="0"/>
                <a:cs typeface="Aparajita" panose="02020603050405020304" pitchFamily="18" charset="0"/>
              </a:rPr>
              <a:t>Aspiring Data Analyst</a:t>
            </a:r>
          </a:p>
        </p:txBody>
      </p:sp>
      <p:sp>
        <p:nvSpPr>
          <p:cNvPr id="7" name="TextBox 6">
            <a:extLst>
              <a:ext uri="{FF2B5EF4-FFF2-40B4-BE49-F238E27FC236}">
                <a16:creationId xmlns:a16="http://schemas.microsoft.com/office/drawing/2014/main" id="{763FC1BE-D583-CE41-C01C-906F655E4E46}"/>
              </a:ext>
            </a:extLst>
          </p:cNvPr>
          <p:cNvSpPr txBox="1"/>
          <p:nvPr/>
        </p:nvSpPr>
        <p:spPr>
          <a:xfrm>
            <a:off x="4082999" y="4244117"/>
            <a:ext cx="3680750" cy="707886"/>
          </a:xfrm>
          <a:prstGeom prst="rect">
            <a:avLst/>
          </a:prstGeom>
          <a:noFill/>
          <a:effectLst>
            <a:outerShdw blurRad="50800" dist="38100" dir="5400000" algn="t" rotWithShape="0">
              <a:prstClr val="black">
                <a:alpha val="40000"/>
              </a:prstClr>
            </a:outerShdw>
          </a:effectLst>
        </p:spPr>
        <p:txBody>
          <a:bodyPr wrap="square" rtlCol="0">
            <a:spAutoFit/>
          </a:bodyPr>
          <a:lstStyle/>
          <a:p>
            <a:pPr algn="ctr"/>
            <a:r>
              <a:rPr lang="en-IN" sz="4000" b="1" dirty="0">
                <a:solidFill>
                  <a:schemeClr val="bg1"/>
                </a:solidFill>
                <a:latin typeface="Aparajita" panose="02020603050405020304" pitchFamily="18" charset="0"/>
                <a:cs typeface="Aparajita" panose="02020603050405020304" pitchFamily="18" charset="0"/>
              </a:rPr>
              <a:t>Connect With Me</a:t>
            </a:r>
          </a:p>
        </p:txBody>
      </p:sp>
      <p:pic>
        <p:nvPicPr>
          <p:cNvPr id="9" name="Picture 8">
            <a:hlinkClick r:id="rId2"/>
            <a:extLst>
              <a:ext uri="{FF2B5EF4-FFF2-40B4-BE49-F238E27FC236}">
                <a16:creationId xmlns:a16="http://schemas.microsoft.com/office/drawing/2014/main" id="{21E93991-5F97-833C-2AD6-93B13A091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3701" y="5139829"/>
            <a:ext cx="880143" cy="8754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a:hlinkClick r:id="rId4"/>
            <a:extLst>
              <a:ext uri="{FF2B5EF4-FFF2-40B4-BE49-F238E27FC236}">
                <a16:creationId xmlns:a16="http://schemas.microsoft.com/office/drawing/2014/main" id="{BB30322B-E6AA-83BA-2DAD-475153B7C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7071" y="5110481"/>
            <a:ext cx="948160" cy="8638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a:hlinkClick r:id="rId6"/>
            <a:extLst>
              <a:ext uri="{FF2B5EF4-FFF2-40B4-BE49-F238E27FC236}">
                <a16:creationId xmlns:a16="http://schemas.microsoft.com/office/drawing/2014/main" id="{389E5FD6-FECA-9CB1-5A55-0F07CB1963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33336" y="5068338"/>
            <a:ext cx="948159" cy="9481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a:extLst>
              <a:ext uri="{FF2B5EF4-FFF2-40B4-BE49-F238E27FC236}">
                <a16:creationId xmlns:a16="http://schemas.microsoft.com/office/drawing/2014/main" id="{C3504727-70C8-718E-94E8-25E821FDB9E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80618" y="1521611"/>
            <a:ext cx="1966453" cy="2184543"/>
          </a:xfrm>
          <a:prstGeom prst="flowChartConnector">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403344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7DAD676-926B-4066-B189-CF441DDC35F2}">
  <we:reference id="wa200005566" version="3.0.1.2" store="en-US" storeType="OMEX"/>
  <we:alternateReferences>
    <we:reference id="WA200005566" version="3.0.1.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846</TotalTime>
  <Words>1242</Words>
  <Application>Microsoft Office PowerPoint</Application>
  <PresentationFormat>Widescreen</PresentationFormat>
  <Paragraphs>85</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Aparajita</vt:lpstr>
      <vt:lpstr>Arial</vt:lpstr>
      <vt:lpstr>Calibri</vt:lpstr>
      <vt:lpstr>Calibri Light</vt:lpstr>
      <vt:lpstr>Calisto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BISWAJIT SASMAL</dc:creator>
  <cp:lastModifiedBy>BISWAJIT SASMAL</cp:lastModifiedBy>
  <cp:revision>54</cp:revision>
  <dcterms:created xsi:type="dcterms:W3CDTF">2026-08-04T07:09:24Z</dcterms:created>
  <dcterms:modified xsi:type="dcterms:W3CDTF">2026-08-21T07:28:22Z</dcterms:modified>
</cp:coreProperties>
</file>